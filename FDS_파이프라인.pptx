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FDS 실시간 이상탐지 파이프라인 v17.
흐름은 왼쪽 위에서 시작해 오른쪽 아래로 끝납니다. 입력 → 전처리 → ML 추론 → 임계값 판정에서 갈라지고, review와 confirm만 아래 경로로 내려가 설명 → 마스킹 → LLM 생성을 거쳐 발송됩니다. none 등급은 SQLite에만 기록하고 종료합니다.
이전 버전 대비 달라진 3가지.
1) 입력에 무인 경로가 생겼습니다. inbox 폴더를 5초 폴링으로 감시해 사람이 화면을 보지 않아도 탐지가 돕니다.
2) 판정 로직을 DetectService 하나로 모았습니다. 대시보드와 워처가 같은 엔진을 호출하므로 판정이 갈라지지 않습니다.
3) 임계값을 감이 아니라 실측으로 정했습니다. 검증셋 23,860행 기준 T1을 0.45에서 0.10으로 내려 오탐 4건 대가로 사기 13건을 더 잡습니다.
오른쪽 운영 계층에서 점선으로 임계값 블록에 설정이 흘러들어갑니다. 대시보드에서 슬라이더를 조정하면 워처를 재시작하지 않고 5초 안에 반영됩니다.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182880"/>
            <a:ext cx="8046720" cy="420624"/>
          </a:xfrm>
          <a:prstGeom prst="rect">
            <a:avLst/>
          </a:prstGeom>
          <a:noFill/>
          <a:ln/>
        </p:spPr>
        <p:txBody>
          <a:bodyPr wrap="square" lIns="0" tIns="0" rIns="0" bIns="0" rtlCol="0" anchor="ctr"/>
          <a:lstStyle/>
          <a:p>
            <a:pPr indent="0" marL="0">
              <a:buNone/>
            </a:pPr>
            <a:r>
              <a:rPr lang="en-US" sz="2700" b="1" dirty="0">
                <a:solidFill>
                  <a:srgbClr val="1E2761"/>
                </a:solidFill>
                <a:latin typeface="Malgun Gothic" pitchFamily="34" charset="0"/>
                <a:ea typeface="Malgun Gothic" pitchFamily="34" charset="-122"/>
                <a:cs typeface="Malgun Gothic" pitchFamily="34" charset="-120"/>
              </a:rPr>
              <a:t>거래 이상탐지 · 분석 · 알림 파이프라인</a:t>
            </a:r>
            <a:endParaRPr lang="en-US" sz="2700" dirty="0"/>
          </a:p>
        </p:txBody>
      </p:sp>
      <p:sp>
        <p:nvSpPr>
          <p:cNvPr id="3" name="Text 1"/>
          <p:cNvSpPr/>
          <p:nvPr/>
        </p:nvSpPr>
        <p:spPr>
          <a:xfrm>
            <a:off x="384048" y="603504"/>
            <a:ext cx="8686800" cy="256032"/>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데이터 입력 → 판정 → 설명 → 마스킹 → 생성 → 발송 · 대시보드(수동)와 워처(무인 상시)가 판정 엔진 하나를 공유</a:t>
            </a:r>
            <a:endParaRPr lang="en-US" sz="1100" dirty="0"/>
          </a:p>
        </p:txBody>
      </p:sp>
      <p:sp>
        <p:nvSpPr>
          <p:cNvPr id="4" name="Shape 2"/>
          <p:cNvSpPr/>
          <p:nvPr/>
        </p:nvSpPr>
        <p:spPr>
          <a:xfrm>
            <a:off x="9125712" y="182880"/>
            <a:ext cx="2679192" cy="658368"/>
          </a:xfrm>
          <a:prstGeom prst="roundRect">
            <a:avLst>
              <a:gd name="adj" fmla="val 9722"/>
            </a:avLst>
          </a:prstGeom>
          <a:solidFill>
            <a:srgbClr val="1E2761"/>
          </a:solidFill>
          <a:ln w="12700">
            <a:solidFill>
              <a:srgbClr val="1E2761"/>
            </a:solidFill>
            <a:prstDash val="solid"/>
          </a:ln>
        </p:spPr>
      </p:sp>
      <p:sp>
        <p:nvSpPr>
          <p:cNvPr id="5" name="Text 3"/>
          <p:cNvSpPr/>
          <p:nvPr/>
        </p:nvSpPr>
        <p:spPr>
          <a:xfrm>
            <a:off x="9198864" y="237744"/>
            <a:ext cx="2532888"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LightGBM 13-class · 58 features
</a:t>
            </a:r>
            <a:pPr algn="ctr" indent="0" marL="0">
              <a:buNone/>
            </a:pPr>
            <a:r>
              <a:rPr lang="en-US" sz="950" dirty="0">
                <a:solidFill>
                  <a:srgbClr val="C9D4F5"/>
                </a:solidFill>
                <a:latin typeface="Malgun Gothic" pitchFamily="34" charset="0"/>
                <a:ea typeface="Malgun Gothic" pitchFamily="34" charset="-122"/>
                <a:cs typeface="Malgun Gothic" pitchFamily="34" charset="-120"/>
              </a:rPr>
              <a:t>macro F1 0.6138 · 기대비용 최적 4.62억</a:t>
            </a:r>
            <a:endParaRPr lang="en-US" sz="1000" dirty="0"/>
          </a:p>
        </p:txBody>
      </p:sp>
      <p:sp>
        <p:nvSpPr>
          <p:cNvPr id="6" name="Shape 4"/>
          <p:cNvSpPr/>
          <p:nvPr/>
        </p:nvSpPr>
        <p:spPr>
          <a:xfrm>
            <a:off x="384048" y="1060704"/>
            <a:ext cx="3218688" cy="1847088"/>
          </a:xfrm>
          <a:prstGeom prst="roundRect">
            <a:avLst>
              <a:gd name="adj" fmla="val 2475"/>
            </a:avLst>
          </a:prstGeom>
          <a:solidFill>
            <a:srgbClr val="FFFFFF"/>
          </a:solidFill>
          <a:ln w="12700">
            <a:solidFill>
              <a:srgbClr val="D7DDEA"/>
            </a:solidFill>
            <a:prstDash val="solid"/>
          </a:ln>
          <a:effectLst>
            <a:outerShdw sx="100000" sy="100000" kx="0" ky="0" algn="bl" rotWithShape="0" blurRad="76200" dist="12700" dir="5400000">
              <a:srgbClr val="9AA4BF">
                <a:alpha val="18000"/>
              </a:srgbClr>
            </a:outerShdw>
          </a:effectLst>
        </p:spPr>
      </p:sp>
      <p:sp>
        <p:nvSpPr>
          <p:cNvPr id="7" name="Shape 5"/>
          <p:cNvSpPr/>
          <p:nvPr/>
        </p:nvSpPr>
        <p:spPr>
          <a:xfrm>
            <a:off x="530352" y="941832"/>
            <a:ext cx="1572768" cy="246888"/>
          </a:xfrm>
          <a:prstGeom prst="roundRect">
            <a:avLst>
              <a:gd name="adj" fmla="val 37037"/>
            </a:avLst>
          </a:prstGeom>
          <a:solidFill>
            <a:srgbClr val="1E2761"/>
          </a:solidFill>
          <a:ln w="12700">
            <a:solidFill>
              <a:srgbClr val="1E2761"/>
            </a:solidFill>
            <a:prstDash val="solid"/>
          </a:ln>
        </p:spPr>
      </p:sp>
      <p:sp>
        <p:nvSpPr>
          <p:cNvPr id="8" name="Text 6"/>
          <p:cNvSpPr/>
          <p:nvPr/>
        </p:nvSpPr>
        <p:spPr>
          <a:xfrm>
            <a:off x="530352" y="941832"/>
            <a:ext cx="157276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  거래 데이터 입력</a:t>
            </a:r>
            <a:endParaRPr lang="en-US" sz="1000" dirty="0"/>
          </a:p>
        </p:txBody>
      </p:sp>
      <p:sp>
        <p:nvSpPr>
          <p:cNvPr id="9" name="Text 7"/>
          <p:cNvSpPr/>
          <p:nvPr/>
        </p:nvSpPr>
        <p:spPr>
          <a:xfrm>
            <a:off x="530352" y="1298448"/>
            <a:ext cx="2944368" cy="658368"/>
          </a:xfrm>
          <a:prstGeom prst="rect">
            <a:avLst/>
          </a:prstGeom>
          <a:noFill/>
          <a:ln/>
        </p:spPr>
        <p:txBody>
          <a:bodyPr wrap="square" lIns="0" tIns="0" rIns="0" bIns="0" rtlCol="0" anchor="ctr"/>
          <a:lstStyle/>
          <a:p>
            <a:pPr indent="0" marL="0">
              <a:lnSpc>
                <a:spcPct val="112000"/>
              </a:lnSpc>
              <a:buNone/>
            </a:pPr>
            <a:r>
              <a:rPr lang="en-US" sz="940" b="1" dirty="0">
                <a:solidFill>
                  <a:srgbClr val="1E2761"/>
                </a:solidFill>
                <a:latin typeface="Malgun Gothic" pitchFamily="34" charset="0"/>
                <a:ea typeface="Malgun Gothic" pitchFamily="34" charset="-122"/>
                <a:cs typeface="Malgun Gothic" pitchFamily="34" charset="-120"/>
              </a:rPr>
              <a:t>사람 경로 — 대시보드
</a:t>
            </a:r>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직접입력 · test.csv · train.csv · 합성생성 · 폴더배치</a:t>
            </a:r>
            <a:endParaRPr lang="en-US" sz="950" dirty="0"/>
          </a:p>
        </p:txBody>
      </p:sp>
      <p:sp>
        <p:nvSpPr>
          <p:cNvPr id="10" name="Shape 8"/>
          <p:cNvSpPr/>
          <p:nvPr/>
        </p:nvSpPr>
        <p:spPr>
          <a:xfrm>
            <a:off x="530352" y="1993392"/>
            <a:ext cx="2926080" cy="0"/>
          </a:xfrm>
          <a:prstGeom prst="line">
            <a:avLst/>
          </a:prstGeom>
          <a:noFill/>
          <a:ln w="12700">
            <a:solidFill>
              <a:srgbClr val="D7DDEA"/>
            </a:solidFill>
            <a:prstDash val="solid"/>
          </a:ln>
        </p:spPr>
      </p:sp>
      <p:sp>
        <p:nvSpPr>
          <p:cNvPr id="11" name="Text 9"/>
          <p:cNvSpPr/>
          <p:nvPr/>
        </p:nvSpPr>
        <p:spPr>
          <a:xfrm>
            <a:off x="530352" y="2066544"/>
            <a:ext cx="2944368" cy="768096"/>
          </a:xfrm>
          <a:prstGeom prst="rect">
            <a:avLst/>
          </a:prstGeom>
          <a:noFill/>
          <a:ln/>
        </p:spPr>
        <p:txBody>
          <a:bodyPr wrap="square" lIns="0" tIns="0" rIns="0" bIns="0" rtlCol="0" anchor="ctr"/>
          <a:lstStyle/>
          <a:p>
            <a:pPr indent="0" marL="0">
              <a:lnSpc>
                <a:spcPct val="112000"/>
              </a:lnSpc>
              <a:buNone/>
            </a:pPr>
            <a:r>
              <a:rPr lang="en-US" sz="940" b="1" dirty="0">
                <a:solidFill>
                  <a:srgbClr val="0E7490"/>
                </a:solidFill>
                <a:latin typeface="Malgun Gothic" pitchFamily="34" charset="0"/>
                <a:ea typeface="Malgun Gothic" pitchFamily="34" charset="-122"/>
                <a:cs typeface="Malgun Gothic" pitchFamily="34" charset="-120"/>
              </a:rPr>
              <a:t>무인 경로 — 워처
</a:t>
            </a:r>
            <a:pPr indent="0" marL="0">
              <a:lnSpc>
                <a:spcPct val="112000"/>
              </a:lnSpc>
              <a:buNone/>
            </a:pPr>
            <a:r>
              <a:rPr lang="en-US" sz="860" dirty="0">
                <a:solidFill>
                  <a:srgbClr val="1A1A2E"/>
                </a:solidFill>
                <a:latin typeface="Malgun Gothic" pitchFamily="34" charset="0"/>
                <a:ea typeface="Malgun Gothic" pitchFamily="34" charset="-122"/>
                <a:cs typeface="Malgun Gothic" pitchFamily="34" charset="-120"/>
              </a:rPr>
              <a:t>inbox/ 실시간 감시 · 5초 폴링</a:t>
            </a:r>
            <a:endParaRPr lang="en-US" sz="860" dirty="0"/>
          </a:p>
          <a:p>
            <a:pPr indent="0" marL="0">
              <a:lnSpc>
                <a:spcPct val="112000"/>
              </a:lnSpc>
              <a:buNone/>
            </a:pPr>
            <a:r>
              <a:rPr lang="en-US" sz="860" dirty="0">
                <a:solidFill>
                  <a:srgbClr val="1A1A2E"/>
                </a:solidFill>
                <a:latin typeface="Malgun Gothic" pitchFamily="34" charset="0"/>
                <a:ea typeface="Malgun Gothic" pitchFamily="34" charset="-122"/>
                <a:cs typeface="Malgun Gothic" pitchFamily="34" charset="-120"/>
              </a:rPr>
              <a:t>신규 파일 + 행 추가(append) 자동 처리</a:t>
            </a:r>
            <a:endParaRPr lang="en-US" sz="860" dirty="0"/>
          </a:p>
          <a:p>
            <a:pPr indent="0" marL="0">
              <a:lnSpc>
                <a:spcPct val="112000"/>
              </a:lnSpc>
              <a:buNone/>
            </a:pPr>
            <a:r>
              <a:rPr lang="en-US" sz="860" dirty="0">
                <a:solidFill>
                  <a:srgbClr val="1A1A2E"/>
                </a:solidFill>
                <a:latin typeface="Malgun Gothic" pitchFamily="34" charset="0"/>
                <a:ea typeface="Malgun Gothic" pitchFamily="34" charset="-122"/>
                <a:cs typeface="Malgun Gothic" pitchFamily="34" charset="-120"/>
              </a:rPr>
              <a:t>파일별 커서로 재처리·누락 방지</a:t>
            </a:r>
            <a:endParaRPr lang="en-US" sz="860" dirty="0"/>
          </a:p>
        </p:txBody>
      </p:sp>
      <p:sp>
        <p:nvSpPr>
          <p:cNvPr id="12" name="Shape 10"/>
          <p:cNvSpPr/>
          <p:nvPr/>
        </p:nvSpPr>
        <p:spPr>
          <a:xfrm>
            <a:off x="3675888" y="1883664"/>
            <a:ext cx="292608" cy="182880"/>
          </a:xfrm>
          <a:prstGeom prst="rightArrow">
            <a:avLst/>
          </a:prstGeom>
          <a:solidFill>
            <a:srgbClr val="8E9AB8"/>
          </a:solidFill>
          <a:ln w="12700">
            <a:solidFill>
              <a:srgbClr val="8E9AB8"/>
            </a:solidFill>
            <a:prstDash val="solid"/>
          </a:ln>
        </p:spPr>
      </p:sp>
      <p:sp>
        <p:nvSpPr>
          <p:cNvPr id="13" name="Shape 11"/>
          <p:cNvSpPr/>
          <p:nvPr/>
        </p:nvSpPr>
        <p:spPr>
          <a:xfrm>
            <a:off x="4041648" y="1060704"/>
            <a:ext cx="2395728" cy="1847088"/>
          </a:xfrm>
          <a:prstGeom prst="roundRect">
            <a:avLst>
              <a:gd name="adj" fmla="val 2475"/>
            </a:avLst>
          </a:prstGeom>
          <a:solidFill>
            <a:srgbClr val="F4F6FB"/>
          </a:solidFill>
          <a:ln w="12700">
            <a:solidFill>
              <a:srgbClr val="C3CCE2"/>
            </a:solidFill>
            <a:prstDash val="solid"/>
          </a:ln>
          <a:effectLst>
            <a:outerShdw sx="100000" sy="100000" kx="0" ky="0" algn="bl" rotWithShape="0" blurRad="76200" dist="12700" dir="5400000">
              <a:srgbClr val="9AA4BF">
                <a:alpha val="18000"/>
              </a:srgbClr>
            </a:outerShdw>
          </a:effectLst>
        </p:spPr>
      </p:sp>
      <p:sp>
        <p:nvSpPr>
          <p:cNvPr id="14" name="Shape 12"/>
          <p:cNvSpPr/>
          <p:nvPr/>
        </p:nvSpPr>
        <p:spPr>
          <a:xfrm>
            <a:off x="4187952" y="941832"/>
            <a:ext cx="1170432" cy="246888"/>
          </a:xfrm>
          <a:prstGeom prst="roundRect">
            <a:avLst>
              <a:gd name="adj" fmla="val 37037"/>
            </a:avLst>
          </a:prstGeom>
          <a:solidFill>
            <a:srgbClr val="3A4A8F"/>
          </a:solidFill>
          <a:ln w="12700">
            <a:solidFill>
              <a:srgbClr val="3A4A8F"/>
            </a:solidFill>
            <a:prstDash val="solid"/>
          </a:ln>
        </p:spPr>
      </p:sp>
      <p:sp>
        <p:nvSpPr>
          <p:cNvPr id="15" name="Text 13"/>
          <p:cNvSpPr/>
          <p:nvPr/>
        </p:nvSpPr>
        <p:spPr>
          <a:xfrm>
            <a:off x="4187952" y="941832"/>
            <a:ext cx="117043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2  전처리 계층</a:t>
            </a:r>
            <a:endParaRPr lang="en-US" sz="1000" dirty="0"/>
          </a:p>
        </p:txBody>
      </p:sp>
      <p:sp>
        <p:nvSpPr>
          <p:cNvPr id="16" name="Text 14"/>
          <p:cNvSpPr/>
          <p:nvPr/>
        </p:nvSpPr>
        <p:spPr>
          <a:xfrm>
            <a:off x="4187952" y="1335024"/>
            <a:ext cx="2121408" cy="1463040"/>
          </a:xfrm>
          <a:prstGeom prst="rect">
            <a:avLst/>
          </a:prstGeom>
          <a:noFill/>
          <a:ln/>
        </p:spPr>
        <p:txBody>
          <a:bodyPr wrap="square" lIns="0" tIns="0" rIns="0" bIns="0" rtlCol="0" anchor="ctr"/>
          <a:lstStyle/>
          <a:p>
            <a:pPr indent="0" marL="0">
              <a:lnSpc>
                <a:spcPct val="112000"/>
              </a:lnSpc>
              <a:buNone/>
            </a:pPr>
            <a:r>
              <a:rPr lang="en-US" sz="1200" b="1" dirty="0">
                <a:solidFill>
                  <a:srgbClr val="1E2761"/>
                </a:solidFill>
                <a:latin typeface="Malgun Gothic" pitchFamily="34" charset="0"/>
                <a:ea typeface="Malgun Gothic" pitchFamily="34" charset="-122"/>
                <a:cs typeface="Malgun Gothic" pitchFamily="34" charset="-120"/>
              </a:rPr>
              <a:t>원본 → 58피처
</a:t>
            </a:r>
            <a:pPr indent="0" marL="0">
              <a:lnSpc>
                <a:spcPct val="112000"/>
              </a:lnSpc>
              <a:buNone/>
            </a:pPr>
            <a:r>
              <a:rPr lang="en-US" sz="950" dirty="0">
                <a:solidFill>
                  <a:srgbClr val="1A1A2E"/>
                </a:solidFill>
                <a:latin typeface="Malgun Gothic" pitchFamily="34" charset="0"/>
                <a:ea typeface="Malgun Gothic" pitchFamily="34" charset="-122"/>
                <a:cs typeface="Malgun Gothic" pitchFamily="34" charset="-120"/>
              </a:rPr>
              <a:t>결정론적 변환
</a:t>
            </a:r>
            <a:pPr indent="0" marL="0">
              <a:lnSpc>
                <a:spcPct val="112000"/>
              </a:lnSpc>
              <a:buNone/>
            </a:pPr>
            <a:r>
              <a:rPr lang="en-US" sz="880" dirty="0">
                <a:solidFill>
                  <a:srgbClr val="3F4A63"/>
                </a:solidFill>
                <a:latin typeface="Malgun Gothic" pitchFamily="34" charset="0"/>
                <a:ea typeface="Malgun Gothic" pitchFamily="34" charset="-122"/>
                <a:cs typeface="Malgun Gothic" pitchFamily="34" charset="-120"/>
              </a:rPr>
              <a:t>· 원본 통과 47 + 파생 11</a:t>
            </a:r>
            <a:endParaRPr lang="en-US" sz="950" dirty="0"/>
          </a:p>
          <a:p>
            <a:pPr indent="0" marL="0">
              <a:lnSpc>
                <a:spcPct val="112000"/>
              </a:lnSpc>
              <a:buNone/>
            </a:pPr>
            <a:r>
              <a:rPr lang="en-US" sz="880" dirty="0">
                <a:solidFill>
                  <a:srgbClr val="3F4A63"/>
                </a:solidFill>
                <a:latin typeface="Malgun Gothic" pitchFamily="34" charset="0"/>
                <a:ea typeface="Malgun Gothic" pitchFamily="34" charset="-122"/>
                <a:cs typeface="Malgun Gothic" pitchFamily="34" charset="-120"/>
              </a:rPr>
              <a:t>· 파생 공식 100% 검증</a:t>
            </a:r>
            <a:endParaRPr lang="en-US" sz="950" dirty="0"/>
          </a:p>
          <a:p>
            <a:pPr indent="0" marL="0">
              <a:lnSpc>
                <a:spcPct val="112000"/>
              </a:lnSpc>
              <a:buNone/>
            </a:pPr>
            <a:r>
              <a:rPr lang="en-US" sz="880" dirty="0">
                <a:solidFill>
                  <a:srgbClr val="3F4A63"/>
                </a:solidFill>
                <a:latin typeface="Malgun Gothic" pitchFamily="34" charset="0"/>
                <a:ea typeface="Malgun Gothic" pitchFamily="34" charset="-122"/>
                <a:cs typeface="Malgun Gothic" pitchFamily="34" charset="-120"/>
              </a:rPr>
              <a:t>· NaN 보존 (채우면 F1 −0.0068)</a:t>
            </a:r>
            <a:endParaRPr lang="en-US" sz="950" dirty="0"/>
          </a:p>
        </p:txBody>
      </p:sp>
      <p:sp>
        <p:nvSpPr>
          <p:cNvPr id="17" name="Shape 15"/>
          <p:cNvSpPr/>
          <p:nvPr/>
        </p:nvSpPr>
        <p:spPr>
          <a:xfrm>
            <a:off x="6510528" y="1883664"/>
            <a:ext cx="292608" cy="182880"/>
          </a:xfrm>
          <a:prstGeom prst="rightArrow">
            <a:avLst/>
          </a:prstGeom>
          <a:solidFill>
            <a:srgbClr val="8E9AB8"/>
          </a:solidFill>
          <a:ln w="12700">
            <a:solidFill>
              <a:srgbClr val="8E9AB8"/>
            </a:solidFill>
            <a:prstDash val="solid"/>
          </a:ln>
        </p:spPr>
      </p:sp>
      <p:sp>
        <p:nvSpPr>
          <p:cNvPr id="18" name="Shape 16"/>
          <p:cNvSpPr/>
          <p:nvPr/>
        </p:nvSpPr>
        <p:spPr>
          <a:xfrm>
            <a:off x="6876288" y="1060704"/>
            <a:ext cx="2048256" cy="1847088"/>
          </a:xfrm>
          <a:prstGeom prst="roundRect">
            <a:avLst>
              <a:gd name="adj" fmla="val 2475"/>
            </a:avLst>
          </a:prstGeom>
          <a:solidFill>
            <a:srgbClr val="FFFFFF"/>
          </a:solidFill>
          <a:ln w="12700">
            <a:solidFill>
              <a:srgbClr val="D7DDEA"/>
            </a:solidFill>
            <a:prstDash val="solid"/>
          </a:ln>
          <a:effectLst>
            <a:outerShdw sx="100000" sy="100000" kx="0" ky="0" algn="bl" rotWithShape="0" blurRad="76200" dist="12700" dir="5400000">
              <a:srgbClr val="9AA4BF">
                <a:alpha val="18000"/>
              </a:srgbClr>
            </a:outerShdw>
          </a:effectLst>
        </p:spPr>
      </p:sp>
      <p:sp>
        <p:nvSpPr>
          <p:cNvPr id="19" name="Shape 17"/>
          <p:cNvSpPr/>
          <p:nvPr/>
        </p:nvSpPr>
        <p:spPr>
          <a:xfrm>
            <a:off x="7022592" y="941832"/>
            <a:ext cx="969264" cy="246888"/>
          </a:xfrm>
          <a:prstGeom prst="roundRect">
            <a:avLst>
              <a:gd name="adj" fmla="val 37037"/>
            </a:avLst>
          </a:prstGeom>
          <a:solidFill>
            <a:srgbClr val="1E2761"/>
          </a:solidFill>
          <a:ln w="12700">
            <a:solidFill>
              <a:srgbClr val="1E2761"/>
            </a:solidFill>
            <a:prstDash val="solid"/>
          </a:ln>
        </p:spPr>
      </p:sp>
      <p:sp>
        <p:nvSpPr>
          <p:cNvPr id="20" name="Text 18"/>
          <p:cNvSpPr/>
          <p:nvPr/>
        </p:nvSpPr>
        <p:spPr>
          <a:xfrm>
            <a:off x="7022592" y="941832"/>
            <a:ext cx="969264"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3  ML 추론</a:t>
            </a:r>
            <a:endParaRPr lang="en-US" sz="1000" dirty="0"/>
          </a:p>
        </p:txBody>
      </p:sp>
      <p:sp>
        <p:nvSpPr>
          <p:cNvPr id="21" name="Text 19"/>
          <p:cNvSpPr/>
          <p:nvPr/>
        </p:nvSpPr>
        <p:spPr>
          <a:xfrm>
            <a:off x="7022592" y="1335024"/>
            <a:ext cx="1792224" cy="1463040"/>
          </a:xfrm>
          <a:prstGeom prst="rect">
            <a:avLst/>
          </a:prstGeom>
          <a:noFill/>
          <a:ln/>
        </p:spPr>
        <p:txBody>
          <a:bodyPr wrap="square" lIns="0" tIns="0" rIns="0" bIns="0" rtlCol="0" anchor="ctr"/>
          <a:lstStyle/>
          <a:p>
            <a:pPr indent="0" marL="0">
              <a:lnSpc>
                <a:spcPct val="112000"/>
              </a:lnSpc>
              <a:buNone/>
            </a:pPr>
            <a:r>
              <a:rPr lang="en-US" sz="1050" b="1" dirty="0">
                <a:solidFill>
                  <a:srgbClr val="1E2761"/>
                </a:solidFill>
                <a:latin typeface="Malgun Gothic" pitchFamily="34" charset="0"/>
                <a:ea typeface="Malgun Gothic" pitchFamily="34" charset="-122"/>
                <a:cs typeface="Malgun Gothic" pitchFamily="34" charset="-120"/>
              </a:rPr>
              <a:t>LightGBM 13-class
</a:t>
            </a:r>
            <a:pPr indent="0" marL="0">
              <a:lnSpc>
                <a:spcPct val="112000"/>
              </a:lnSpc>
              <a:buNone/>
            </a:pPr>
            <a:r>
              <a:rPr lang="en-US" sz="900" dirty="0">
                <a:solidFill>
                  <a:srgbClr val="1A1A2E"/>
                </a:solidFill>
                <a:latin typeface="Malgun Gothic" pitchFamily="34" charset="0"/>
                <a:ea typeface="Malgun Gothic" pitchFamily="34" charset="-122"/>
                <a:cs typeface="Malgun Gothic" pitchFamily="34" charset="-120"/>
              </a:rPr>
              <a:t>a ~ m 유형 판정
</a:t>
            </a:r>
            <a:pPr indent="0" marL="0">
              <a:lnSpc>
                <a:spcPct val="112000"/>
              </a:lnSpc>
              <a:buNone/>
            </a:pPr>
            <a:r>
              <a:rPr lang="en-US" sz="900" dirty="0">
                <a:solidFill>
                  <a:srgbClr val="1A1A2E"/>
                </a:solidFill>
                <a:latin typeface="Malgun Gothic" pitchFamily="34" charset="0"/>
                <a:ea typeface="Malgun Gothic" pitchFamily="34" charset="-122"/>
                <a:cs typeface="Malgun Gothic" pitchFamily="34" charset="-120"/>
              </a:rPr>
              <a:t>예측 = argmax
위험점수 = 1 − P(정상)
</a:t>
            </a:r>
            <a:pPr indent="0" marL="0">
              <a:lnSpc>
                <a:spcPct val="112000"/>
              </a:lnSpc>
              <a:buNone/>
            </a:pPr>
            <a:r>
              <a:rPr lang="en-US" sz="880" b="1" dirty="0">
                <a:solidFill>
                  <a:srgbClr val="2E9E6B"/>
                </a:solidFill>
                <a:latin typeface="Malgun Gothic" pitchFamily="34" charset="0"/>
                <a:ea typeface="Malgun Gothic" pitchFamily="34" charset="-122"/>
                <a:cs typeface="Malgun Gothic" pitchFamily="34" charset="-120"/>
              </a:rPr>
              <a:t>macro F1 0.6138</a:t>
            </a:r>
            <a:endParaRPr lang="en-US" sz="950" dirty="0"/>
          </a:p>
        </p:txBody>
      </p:sp>
      <p:sp>
        <p:nvSpPr>
          <p:cNvPr id="22" name="Shape 20"/>
          <p:cNvSpPr/>
          <p:nvPr/>
        </p:nvSpPr>
        <p:spPr>
          <a:xfrm>
            <a:off x="7772400" y="2944368"/>
            <a:ext cx="182880" cy="164592"/>
          </a:xfrm>
          <a:prstGeom prst="downArrow">
            <a:avLst/>
          </a:prstGeom>
          <a:solidFill>
            <a:srgbClr val="8E9AB8"/>
          </a:solidFill>
          <a:ln w="12700">
            <a:solidFill>
              <a:srgbClr val="8E9AB8"/>
            </a:solidFill>
            <a:prstDash val="solid"/>
          </a:ln>
        </p:spPr>
      </p:sp>
      <p:sp>
        <p:nvSpPr>
          <p:cNvPr id="23" name="Text 21"/>
          <p:cNvSpPr/>
          <p:nvPr/>
        </p:nvSpPr>
        <p:spPr>
          <a:xfrm>
            <a:off x="5888736" y="2916936"/>
            <a:ext cx="1828800" cy="201168"/>
          </a:xfrm>
          <a:prstGeom prst="rect">
            <a:avLst/>
          </a:prstGeom>
          <a:noFill/>
          <a:ln/>
        </p:spPr>
        <p:txBody>
          <a:bodyPr wrap="square" lIns="0" tIns="0" rIns="0" bIns="0" rtlCol="0" anchor="ctr"/>
          <a:lstStyle/>
          <a:p>
            <a:pPr algn="r" indent="0" marL="0">
              <a:buNone/>
            </a:pPr>
            <a:r>
              <a:rPr lang="en-US" sz="780" dirty="0">
                <a:solidFill>
                  <a:srgbClr val="6B7280"/>
                </a:solidFill>
                <a:latin typeface="Malgun Gothic" pitchFamily="34" charset="0"/>
                <a:ea typeface="Malgun Gothic" pitchFamily="34" charset="-122"/>
                <a:cs typeface="Malgun Gothic" pitchFamily="34" charset="-120"/>
              </a:rPr>
              <a:t>위험점수 전달</a:t>
            </a:r>
            <a:endParaRPr lang="en-US" sz="780" dirty="0"/>
          </a:p>
        </p:txBody>
      </p:sp>
      <p:sp>
        <p:nvSpPr>
          <p:cNvPr id="24" name="Shape 22"/>
          <p:cNvSpPr/>
          <p:nvPr/>
        </p:nvSpPr>
        <p:spPr>
          <a:xfrm>
            <a:off x="384048" y="3145536"/>
            <a:ext cx="8540496" cy="1225296"/>
          </a:xfrm>
          <a:prstGeom prst="roundRect">
            <a:avLst>
              <a:gd name="adj" fmla="val 3731"/>
            </a:avLst>
          </a:prstGeom>
          <a:solidFill>
            <a:srgbClr val="FFFFFF"/>
          </a:solidFill>
          <a:ln w="12700">
            <a:solidFill>
              <a:srgbClr val="CFC3E6"/>
            </a:solidFill>
            <a:prstDash val="solid"/>
          </a:ln>
          <a:effectLst>
            <a:outerShdw sx="100000" sy="100000" kx="0" ky="0" algn="bl" rotWithShape="0" blurRad="76200" dist="12700" dir="5400000">
              <a:srgbClr val="9AA4BF">
                <a:alpha val="18000"/>
              </a:srgbClr>
            </a:outerShdw>
          </a:effectLst>
        </p:spPr>
      </p:sp>
      <p:sp>
        <p:nvSpPr>
          <p:cNvPr id="25" name="Shape 23"/>
          <p:cNvSpPr/>
          <p:nvPr/>
        </p:nvSpPr>
        <p:spPr>
          <a:xfrm>
            <a:off x="530352" y="3026664"/>
            <a:ext cx="1847088" cy="246888"/>
          </a:xfrm>
          <a:prstGeom prst="roundRect">
            <a:avLst>
              <a:gd name="adj" fmla="val 37037"/>
            </a:avLst>
          </a:prstGeom>
          <a:solidFill>
            <a:srgbClr val="6D4AA6"/>
          </a:solidFill>
          <a:ln w="12700">
            <a:solidFill>
              <a:srgbClr val="6D4AA6"/>
            </a:solidFill>
            <a:prstDash val="solid"/>
          </a:ln>
        </p:spPr>
      </p:sp>
      <p:sp>
        <p:nvSpPr>
          <p:cNvPr id="26" name="Text 24"/>
          <p:cNvSpPr/>
          <p:nvPr/>
        </p:nvSpPr>
        <p:spPr>
          <a:xfrm>
            <a:off x="530352" y="3026664"/>
            <a:ext cx="184708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4  이중 임계값 구간 판정</a:t>
            </a:r>
            <a:endParaRPr lang="en-US" sz="1000" dirty="0"/>
          </a:p>
        </p:txBody>
      </p:sp>
      <p:sp>
        <p:nvSpPr>
          <p:cNvPr id="27" name="Shape 25"/>
          <p:cNvSpPr/>
          <p:nvPr/>
        </p:nvSpPr>
        <p:spPr>
          <a:xfrm>
            <a:off x="658368" y="3621024"/>
            <a:ext cx="653796" cy="118872"/>
          </a:xfrm>
          <a:prstGeom prst="roundRect">
            <a:avLst>
              <a:gd name="adj" fmla="val 46154"/>
            </a:avLst>
          </a:prstGeom>
          <a:solidFill>
            <a:srgbClr val="2E9E6B"/>
          </a:solidFill>
          <a:ln w="12700">
            <a:solidFill>
              <a:srgbClr val="2E9E6B"/>
            </a:solidFill>
            <a:prstDash val="solid"/>
          </a:ln>
        </p:spPr>
      </p:sp>
      <p:sp>
        <p:nvSpPr>
          <p:cNvPr id="28" name="Shape 26"/>
          <p:cNvSpPr/>
          <p:nvPr/>
        </p:nvSpPr>
        <p:spPr>
          <a:xfrm>
            <a:off x="1312164" y="3621024"/>
            <a:ext cx="3470148" cy="118872"/>
          </a:xfrm>
          <a:prstGeom prst="roundRect">
            <a:avLst>
              <a:gd name="adj" fmla="val 46154"/>
            </a:avLst>
          </a:prstGeom>
          <a:solidFill>
            <a:srgbClr val="D98A0B"/>
          </a:solidFill>
          <a:ln w="12700">
            <a:solidFill>
              <a:srgbClr val="D98A0B"/>
            </a:solidFill>
            <a:prstDash val="solid"/>
          </a:ln>
        </p:spPr>
      </p:sp>
      <p:sp>
        <p:nvSpPr>
          <p:cNvPr id="29" name="Shape 27"/>
          <p:cNvSpPr/>
          <p:nvPr/>
        </p:nvSpPr>
        <p:spPr>
          <a:xfrm>
            <a:off x="4782312" y="3621024"/>
            <a:ext cx="905256" cy="118872"/>
          </a:xfrm>
          <a:prstGeom prst="roundRect">
            <a:avLst>
              <a:gd name="adj" fmla="val 46154"/>
            </a:avLst>
          </a:prstGeom>
          <a:solidFill>
            <a:srgbClr val="C6353A"/>
          </a:solidFill>
          <a:ln w="12700">
            <a:solidFill>
              <a:srgbClr val="C6353A"/>
            </a:solidFill>
            <a:prstDash val="solid"/>
          </a:ln>
        </p:spPr>
      </p:sp>
      <p:sp>
        <p:nvSpPr>
          <p:cNvPr id="30" name="Text 28"/>
          <p:cNvSpPr/>
          <p:nvPr/>
        </p:nvSpPr>
        <p:spPr>
          <a:xfrm>
            <a:off x="338328" y="3346704"/>
            <a:ext cx="640080" cy="219456"/>
          </a:xfrm>
          <a:prstGeom prst="rect">
            <a:avLst/>
          </a:prstGeom>
          <a:noFill/>
          <a:ln/>
        </p:spPr>
        <p:txBody>
          <a:bodyPr wrap="square" lIns="0" tIns="0" rIns="0" bIns="0" rtlCol="0" anchor="ctr"/>
          <a:lstStyle/>
          <a:p>
            <a:pPr algn="ctr" indent="0" marL="0">
              <a:buNone/>
            </a:pPr>
            <a:r>
              <a:rPr lang="en-US" sz="900" dirty="0">
                <a:solidFill>
                  <a:srgbClr val="6B7280"/>
                </a:solidFill>
                <a:latin typeface="Malgun Gothic" pitchFamily="34" charset="0"/>
                <a:ea typeface="Malgun Gothic" pitchFamily="34" charset="-122"/>
                <a:cs typeface="Malgun Gothic" pitchFamily="34" charset="-120"/>
              </a:rPr>
              <a:t>0.0</a:t>
            </a:r>
            <a:endParaRPr lang="en-US" sz="900" dirty="0"/>
          </a:p>
        </p:txBody>
      </p:sp>
      <p:sp>
        <p:nvSpPr>
          <p:cNvPr id="31" name="Text 29"/>
          <p:cNvSpPr/>
          <p:nvPr/>
        </p:nvSpPr>
        <p:spPr>
          <a:xfrm>
            <a:off x="992124" y="3346704"/>
            <a:ext cx="640080" cy="219456"/>
          </a:xfrm>
          <a:prstGeom prst="rect">
            <a:avLst/>
          </a:prstGeom>
          <a:noFill/>
          <a:ln/>
        </p:spPr>
        <p:txBody>
          <a:bodyPr wrap="square" lIns="0" tIns="0" rIns="0" bIns="0" rtlCol="0" anchor="ctr"/>
          <a:lstStyle/>
          <a:p>
            <a:pPr algn="ctr" indent="0" marL="0">
              <a:buNone/>
            </a:pPr>
            <a:r>
              <a:rPr lang="en-US" sz="900" b="1" dirty="0">
                <a:solidFill>
                  <a:srgbClr val="D98A0B"/>
                </a:solidFill>
                <a:latin typeface="Malgun Gothic" pitchFamily="34" charset="0"/>
                <a:ea typeface="Malgun Gothic" pitchFamily="34" charset="-122"/>
                <a:cs typeface="Malgun Gothic" pitchFamily="34" charset="-120"/>
              </a:rPr>
              <a:t>T₁ 0.005</a:t>
            </a:r>
            <a:endParaRPr lang="en-US" sz="900" dirty="0"/>
          </a:p>
        </p:txBody>
      </p:sp>
      <p:sp>
        <p:nvSpPr>
          <p:cNvPr id="32" name="Text 30"/>
          <p:cNvSpPr/>
          <p:nvPr/>
        </p:nvSpPr>
        <p:spPr>
          <a:xfrm>
            <a:off x="4462272" y="3346704"/>
            <a:ext cx="640080" cy="219456"/>
          </a:xfrm>
          <a:prstGeom prst="rect">
            <a:avLst/>
          </a:prstGeom>
          <a:noFill/>
          <a:ln/>
        </p:spPr>
        <p:txBody>
          <a:bodyPr wrap="square" lIns="0" tIns="0" rIns="0" bIns="0" rtlCol="0" anchor="ctr"/>
          <a:lstStyle/>
          <a:p>
            <a:pPr algn="ctr" indent="0" marL="0">
              <a:buNone/>
            </a:pPr>
            <a:r>
              <a:rPr lang="en-US" sz="900" b="1" dirty="0">
                <a:solidFill>
                  <a:srgbClr val="C6353A"/>
                </a:solidFill>
                <a:latin typeface="Malgun Gothic" pitchFamily="34" charset="0"/>
                <a:ea typeface="Malgun Gothic" pitchFamily="34" charset="-122"/>
                <a:cs typeface="Malgun Gothic" pitchFamily="34" charset="-120"/>
              </a:rPr>
              <a:t>T₂ 0.90</a:t>
            </a:r>
            <a:endParaRPr lang="en-US" sz="900" dirty="0"/>
          </a:p>
        </p:txBody>
      </p:sp>
      <p:sp>
        <p:nvSpPr>
          <p:cNvPr id="33" name="Text 31"/>
          <p:cNvSpPr/>
          <p:nvPr/>
        </p:nvSpPr>
        <p:spPr>
          <a:xfrm>
            <a:off x="5367528" y="3346704"/>
            <a:ext cx="640080" cy="219456"/>
          </a:xfrm>
          <a:prstGeom prst="rect">
            <a:avLst/>
          </a:prstGeom>
          <a:noFill/>
          <a:ln/>
        </p:spPr>
        <p:txBody>
          <a:bodyPr wrap="square" lIns="0" tIns="0" rIns="0" bIns="0" rtlCol="0" anchor="ctr"/>
          <a:lstStyle/>
          <a:p>
            <a:pPr algn="ctr" indent="0" marL="0">
              <a:buNone/>
            </a:pPr>
            <a:r>
              <a:rPr lang="en-US" sz="900" dirty="0">
                <a:solidFill>
                  <a:srgbClr val="6B7280"/>
                </a:solidFill>
                <a:latin typeface="Malgun Gothic" pitchFamily="34" charset="0"/>
                <a:ea typeface="Malgun Gothic" pitchFamily="34" charset="-122"/>
                <a:cs typeface="Malgun Gothic" pitchFamily="34" charset="-120"/>
              </a:rPr>
              <a:t>1.0</a:t>
            </a:r>
            <a:endParaRPr lang="en-US" sz="900" dirty="0"/>
          </a:p>
        </p:txBody>
      </p:sp>
      <p:sp>
        <p:nvSpPr>
          <p:cNvPr id="34" name="Text 32"/>
          <p:cNvSpPr/>
          <p:nvPr/>
        </p:nvSpPr>
        <p:spPr>
          <a:xfrm>
            <a:off x="658368" y="4187952"/>
            <a:ext cx="3108960" cy="164592"/>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 눈금은 구조 표시용(비선형) — 실제 T₁은 0.005</a:t>
            </a:r>
            <a:endParaRPr lang="en-US" sz="700" dirty="0"/>
          </a:p>
        </p:txBody>
      </p:sp>
      <p:sp>
        <p:nvSpPr>
          <p:cNvPr id="35" name="Shape 33"/>
          <p:cNvSpPr/>
          <p:nvPr/>
        </p:nvSpPr>
        <p:spPr>
          <a:xfrm>
            <a:off x="658368" y="3922776"/>
            <a:ext cx="91440" cy="91440"/>
          </a:xfrm>
          <a:prstGeom prst="ellipse">
            <a:avLst/>
          </a:prstGeom>
          <a:solidFill>
            <a:srgbClr val="2E9E6B"/>
          </a:solidFill>
          <a:ln w="12700">
            <a:solidFill>
              <a:srgbClr val="2E9E6B"/>
            </a:solidFill>
            <a:prstDash val="solid"/>
          </a:ln>
        </p:spPr>
      </p:sp>
      <p:sp>
        <p:nvSpPr>
          <p:cNvPr id="36" name="Text 34"/>
          <p:cNvSpPr/>
          <p:nvPr/>
        </p:nvSpPr>
        <p:spPr>
          <a:xfrm>
            <a:off x="795528" y="3858768"/>
            <a:ext cx="1536192" cy="274320"/>
          </a:xfrm>
          <a:prstGeom prst="rect">
            <a:avLst/>
          </a:prstGeom>
          <a:noFill/>
          <a:ln/>
        </p:spPr>
        <p:txBody>
          <a:bodyPr wrap="square" lIns="0" tIns="0" rIns="0" bIns="0" rtlCol="0" anchor="ctr"/>
          <a:lstStyle/>
          <a:p>
            <a:pPr indent="0" marL="0">
              <a:lnSpc>
                <a:spcPct val="100000"/>
              </a:lnSpc>
              <a:buNone/>
            </a:pPr>
            <a:r>
              <a:rPr lang="en-US" sz="860" b="1" dirty="0">
                <a:solidFill>
                  <a:srgbClr val="2E9E6B"/>
                </a:solidFill>
                <a:latin typeface="Malgun Gothic" pitchFamily="34" charset="0"/>
                <a:ea typeface="Malgun Gothic" pitchFamily="34" charset="-122"/>
                <a:cs typeface="Malgun Gothic" pitchFamily="34" charset="-120"/>
              </a:rPr>
              <a:t>none  </a:t>
            </a:r>
            <a:pPr indent="0" marL="0">
              <a:lnSpc>
                <a:spcPct val="100000"/>
              </a:lnSpc>
              <a:buNone/>
            </a:pPr>
            <a:r>
              <a:rPr lang="en-US" sz="780" dirty="0">
                <a:solidFill>
                  <a:srgbClr val="1A1A2E"/>
                </a:solidFill>
                <a:latin typeface="Malgun Gothic" pitchFamily="34" charset="0"/>
                <a:ea typeface="Malgun Gothic" pitchFamily="34" charset="-122"/>
                <a:cs typeface="Malgun Gothic" pitchFamily="34" charset="-120"/>
              </a:rPr>
              <a:t>→ 발송 없이 종료</a:t>
            </a:r>
            <a:endParaRPr lang="en-US" sz="860" dirty="0"/>
          </a:p>
        </p:txBody>
      </p:sp>
      <p:sp>
        <p:nvSpPr>
          <p:cNvPr id="37" name="Shape 35"/>
          <p:cNvSpPr/>
          <p:nvPr/>
        </p:nvSpPr>
        <p:spPr>
          <a:xfrm>
            <a:off x="2359152" y="3922776"/>
            <a:ext cx="91440" cy="91440"/>
          </a:xfrm>
          <a:prstGeom prst="ellipse">
            <a:avLst/>
          </a:prstGeom>
          <a:solidFill>
            <a:srgbClr val="D98A0B"/>
          </a:solidFill>
          <a:ln w="12700">
            <a:solidFill>
              <a:srgbClr val="D98A0B"/>
            </a:solidFill>
            <a:prstDash val="solid"/>
          </a:ln>
        </p:spPr>
      </p:sp>
      <p:sp>
        <p:nvSpPr>
          <p:cNvPr id="38" name="Text 36"/>
          <p:cNvSpPr/>
          <p:nvPr/>
        </p:nvSpPr>
        <p:spPr>
          <a:xfrm>
            <a:off x="2496312" y="3858768"/>
            <a:ext cx="1536192" cy="274320"/>
          </a:xfrm>
          <a:prstGeom prst="rect">
            <a:avLst/>
          </a:prstGeom>
          <a:noFill/>
          <a:ln/>
        </p:spPr>
        <p:txBody>
          <a:bodyPr wrap="square" lIns="0" tIns="0" rIns="0" bIns="0" rtlCol="0" anchor="ctr"/>
          <a:lstStyle/>
          <a:p>
            <a:pPr indent="0" marL="0">
              <a:lnSpc>
                <a:spcPct val="100000"/>
              </a:lnSpc>
              <a:buNone/>
            </a:pPr>
            <a:r>
              <a:rPr lang="en-US" sz="860" b="1" dirty="0">
                <a:solidFill>
                  <a:srgbClr val="D98A0B"/>
                </a:solidFill>
                <a:latin typeface="Malgun Gothic" pitchFamily="34" charset="0"/>
                <a:ea typeface="Malgun Gothic" pitchFamily="34" charset="-122"/>
                <a:cs typeface="Malgun Gothic" pitchFamily="34" charset="-120"/>
              </a:rPr>
              <a:t>review  </a:t>
            </a:r>
            <a:pPr indent="0" marL="0">
              <a:lnSpc>
                <a:spcPct val="100000"/>
              </a:lnSpc>
              <a:buNone/>
            </a:pPr>
            <a:r>
              <a:rPr lang="en-US" sz="780" dirty="0">
                <a:solidFill>
                  <a:srgbClr val="1A1A2E"/>
                </a:solidFill>
                <a:latin typeface="Malgun Gothic" pitchFamily="34" charset="0"/>
                <a:ea typeface="Malgun Gothic" pitchFamily="34" charset="-122"/>
                <a:cs typeface="Malgun Gothic" pitchFamily="34" charset="-120"/>
              </a:rPr>
              <a:t>→ Slack (검토)</a:t>
            </a:r>
            <a:endParaRPr lang="en-US" sz="860" dirty="0"/>
          </a:p>
        </p:txBody>
      </p:sp>
      <p:sp>
        <p:nvSpPr>
          <p:cNvPr id="39" name="Shape 37"/>
          <p:cNvSpPr/>
          <p:nvPr/>
        </p:nvSpPr>
        <p:spPr>
          <a:xfrm>
            <a:off x="4059936" y="3922776"/>
            <a:ext cx="91440" cy="91440"/>
          </a:xfrm>
          <a:prstGeom prst="ellipse">
            <a:avLst/>
          </a:prstGeom>
          <a:solidFill>
            <a:srgbClr val="C6353A"/>
          </a:solidFill>
          <a:ln w="12700">
            <a:solidFill>
              <a:srgbClr val="C6353A"/>
            </a:solidFill>
            <a:prstDash val="solid"/>
          </a:ln>
        </p:spPr>
      </p:sp>
      <p:sp>
        <p:nvSpPr>
          <p:cNvPr id="40" name="Text 38"/>
          <p:cNvSpPr/>
          <p:nvPr/>
        </p:nvSpPr>
        <p:spPr>
          <a:xfrm>
            <a:off x="4197096" y="3858768"/>
            <a:ext cx="1536192" cy="274320"/>
          </a:xfrm>
          <a:prstGeom prst="rect">
            <a:avLst/>
          </a:prstGeom>
          <a:noFill/>
          <a:ln/>
        </p:spPr>
        <p:txBody>
          <a:bodyPr wrap="square" lIns="0" tIns="0" rIns="0" bIns="0" rtlCol="0" anchor="ctr"/>
          <a:lstStyle/>
          <a:p>
            <a:pPr indent="0" marL="0">
              <a:lnSpc>
                <a:spcPct val="100000"/>
              </a:lnSpc>
              <a:buNone/>
            </a:pPr>
            <a:r>
              <a:rPr lang="en-US" sz="860" b="1" dirty="0">
                <a:solidFill>
                  <a:srgbClr val="C6353A"/>
                </a:solidFill>
                <a:latin typeface="Malgun Gothic" pitchFamily="34" charset="0"/>
                <a:ea typeface="Malgun Gothic" pitchFamily="34" charset="-122"/>
                <a:cs typeface="Malgun Gothic" pitchFamily="34" charset="-120"/>
              </a:rPr>
              <a:t>confirm  </a:t>
            </a:r>
            <a:pPr indent="0" marL="0">
              <a:lnSpc>
                <a:spcPct val="100000"/>
              </a:lnSpc>
              <a:buNone/>
            </a:pPr>
            <a:r>
              <a:rPr lang="en-US" sz="780" dirty="0">
                <a:solidFill>
                  <a:srgbClr val="1A1A2E"/>
                </a:solidFill>
                <a:latin typeface="Malgun Gothic" pitchFamily="34" charset="0"/>
                <a:ea typeface="Malgun Gothic" pitchFamily="34" charset="-122"/>
                <a:cs typeface="Malgun Gothic" pitchFamily="34" charset="-120"/>
              </a:rPr>
              <a:t>→ Slack + Email</a:t>
            </a:r>
            <a:endParaRPr lang="en-US" sz="860" dirty="0"/>
          </a:p>
        </p:txBody>
      </p:sp>
      <p:sp>
        <p:nvSpPr>
          <p:cNvPr id="41" name="Shape 39"/>
          <p:cNvSpPr/>
          <p:nvPr/>
        </p:nvSpPr>
        <p:spPr>
          <a:xfrm>
            <a:off x="5907024" y="3310128"/>
            <a:ext cx="2889504" cy="914400"/>
          </a:xfrm>
          <a:prstGeom prst="roundRect">
            <a:avLst>
              <a:gd name="adj" fmla="val 5000"/>
            </a:avLst>
          </a:prstGeom>
          <a:solidFill>
            <a:srgbClr val="F7F4FC"/>
          </a:solidFill>
          <a:ln w="12700">
            <a:solidFill>
              <a:srgbClr val="DCD2EE"/>
            </a:solidFill>
            <a:prstDash val="solid"/>
          </a:ln>
        </p:spPr>
      </p:sp>
      <p:sp>
        <p:nvSpPr>
          <p:cNvPr id="42" name="Text 40"/>
          <p:cNvSpPr/>
          <p:nvPr/>
        </p:nvSpPr>
        <p:spPr>
          <a:xfrm>
            <a:off x="6016752" y="3364992"/>
            <a:ext cx="2688336" cy="822960"/>
          </a:xfrm>
          <a:prstGeom prst="rect">
            <a:avLst/>
          </a:prstGeom>
          <a:noFill/>
          <a:ln/>
        </p:spPr>
        <p:txBody>
          <a:bodyPr wrap="square" lIns="0" tIns="0" rIns="0" bIns="0" rtlCol="0" anchor="ctr"/>
          <a:lstStyle/>
          <a:p>
            <a:pPr indent="0" marL="0">
              <a:lnSpc>
                <a:spcPct val="112000"/>
              </a:lnSpc>
              <a:buNone/>
            </a:pPr>
            <a:r>
              <a:rPr lang="en-US" sz="900" b="1" dirty="0">
                <a:solidFill>
                  <a:srgbClr val="6D4AA6"/>
                </a:solidFill>
                <a:latin typeface="Malgun Gothic" pitchFamily="34" charset="0"/>
                <a:ea typeface="Malgun Gothic" pitchFamily="34" charset="-122"/>
                <a:cs typeface="Malgun Gothic" pitchFamily="34" charset="-120"/>
              </a:rPr>
              <a:t>기대비용으로 결정  </a:t>
            </a:r>
            <a:pPr indent="0" marL="0">
              <a:lnSpc>
                <a:spcPct val="112000"/>
              </a:lnSpc>
              <a:buNone/>
            </a:pPr>
            <a:r>
              <a:rPr lang="en-US" sz="820" dirty="0">
                <a:solidFill>
                  <a:srgbClr val="6B7280"/>
                </a:solidFill>
                <a:latin typeface="Malgun Gothic" pitchFamily="34" charset="0"/>
                <a:ea typeface="Malgun Gothic" pitchFamily="34" charset="-122"/>
                <a:cs typeface="Malgun Gothic" pitchFamily="34" charset="-120"/>
              </a:rPr>
              <a:t>X_va 23,860행 · 사기 1.08%
</a:t>
            </a:r>
            <a:pPr indent="0" marL="0">
              <a:lnSpc>
                <a:spcPct val="112000"/>
              </a:lnSpc>
              <a:buNone/>
            </a:pPr>
            <a:r>
              <a:rPr lang="en-US" sz="840" dirty="0">
                <a:solidFill>
                  <a:srgbClr val="1A1A2E"/>
                </a:solidFill>
                <a:latin typeface="Malgun Gothic" pitchFamily="34" charset="0"/>
                <a:ea typeface="Malgun Gothic" pitchFamily="34" charset="-122"/>
                <a:cs typeface="Malgun Gothic" pitchFamily="34" charset="-120"/>
              </a:rPr>
              <a:t>미탐 1건 1,700만원 vs 오탐 1건 5만원 — 340배
</a:t>
            </a:r>
            <a:pPr indent="0" marL="0">
              <a:lnSpc>
                <a:spcPct val="112000"/>
              </a:lnSpc>
              <a:buNone/>
            </a:pPr>
            <a:r>
              <a:rPr lang="en-US" sz="840" dirty="0">
                <a:solidFill>
                  <a:srgbClr val="1A1A2E"/>
                </a:solidFill>
                <a:latin typeface="Malgun Gothic" pitchFamily="34" charset="0"/>
                <a:ea typeface="Malgun Gothic" pitchFamily="34" charset="-122"/>
                <a:cs typeface="Malgun Gothic" pitchFamily="34" charset="-120"/>
              </a:rPr>
              <a:t>T₁ 0.10→0.005 : 7.48억 → 4.62억 · 미탐 44→27건
</a:t>
            </a:r>
            <a:pPr indent="0" marL="0">
              <a:lnSpc>
                <a:spcPct val="112000"/>
              </a:lnSpc>
              <a:buNone/>
            </a:pPr>
            <a:r>
              <a:rPr lang="en-US" sz="820" b="1" dirty="0">
                <a:solidFill>
                  <a:srgbClr val="6D4AA6"/>
                </a:solidFill>
                <a:latin typeface="Malgun Gothic" pitchFamily="34" charset="0"/>
                <a:ea typeface="Malgun Gothic" pitchFamily="34" charset="-122"/>
                <a:cs typeface="Malgun Gothic" pitchFamily="34" charset="-120"/>
              </a:rPr>
              <a:t>제약 Macro-F1 ≥ 0.6 하에서 비용 최소화</a:t>
            </a:r>
            <a:endParaRPr lang="en-US" sz="950" dirty="0"/>
          </a:p>
        </p:txBody>
      </p:sp>
      <p:sp>
        <p:nvSpPr>
          <p:cNvPr id="43" name="Shape 41"/>
          <p:cNvSpPr/>
          <p:nvPr/>
        </p:nvSpPr>
        <p:spPr>
          <a:xfrm>
            <a:off x="1865376" y="4407408"/>
            <a:ext cx="182880" cy="182880"/>
          </a:xfrm>
          <a:prstGeom prst="downArrow">
            <a:avLst/>
          </a:prstGeom>
          <a:solidFill>
            <a:srgbClr val="8E9AB8"/>
          </a:solidFill>
          <a:ln w="12700">
            <a:solidFill>
              <a:srgbClr val="8E9AB8"/>
            </a:solidFill>
            <a:prstDash val="solid"/>
          </a:ln>
        </p:spPr>
      </p:sp>
      <p:sp>
        <p:nvSpPr>
          <p:cNvPr id="44" name="Text 42"/>
          <p:cNvSpPr/>
          <p:nvPr/>
        </p:nvSpPr>
        <p:spPr>
          <a:xfrm>
            <a:off x="2103120" y="4389120"/>
            <a:ext cx="1828800" cy="201168"/>
          </a:xfrm>
          <a:prstGeom prst="rect">
            <a:avLst/>
          </a:prstGeom>
          <a:noFill/>
          <a:ln/>
        </p:spPr>
        <p:txBody>
          <a:bodyPr wrap="square" lIns="0" tIns="0" rIns="0" bIns="0" rtlCol="0" anchor="ctr"/>
          <a:lstStyle/>
          <a:p>
            <a:pPr algn="l" indent="0" marL="0">
              <a:buNone/>
            </a:pPr>
            <a:r>
              <a:rPr lang="en-US" sz="780" dirty="0">
                <a:solidFill>
                  <a:srgbClr val="6B7280"/>
                </a:solidFill>
                <a:latin typeface="Malgun Gothic" pitchFamily="34" charset="0"/>
                <a:ea typeface="Malgun Gothic" pitchFamily="34" charset="-122"/>
                <a:cs typeface="Malgun Gothic" pitchFamily="34" charset="-120"/>
              </a:rPr>
              <a:t>review · confirm 만 진행</a:t>
            </a:r>
            <a:endParaRPr lang="en-US" sz="780" dirty="0"/>
          </a:p>
        </p:txBody>
      </p:sp>
      <p:sp>
        <p:nvSpPr>
          <p:cNvPr id="45" name="Shape 43"/>
          <p:cNvSpPr/>
          <p:nvPr/>
        </p:nvSpPr>
        <p:spPr>
          <a:xfrm>
            <a:off x="384048" y="4626864"/>
            <a:ext cx="2743200" cy="1389888"/>
          </a:xfrm>
          <a:prstGeom prst="roundRect">
            <a:avLst>
              <a:gd name="adj" fmla="val 3289"/>
            </a:avLst>
          </a:prstGeom>
          <a:solidFill>
            <a:srgbClr val="FFFFFF"/>
          </a:solidFill>
          <a:ln w="12700">
            <a:solidFill>
              <a:srgbClr val="D7DDEA"/>
            </a:solidFill>
            <a:prstDash val="solid"/>
          </a:ln>
          <a:effectLst>
            <a:outerShdw sx="100000" sy="100000" kx="0" ky="0" algn="bl" rotWithShape="0" blurRad="76200" dist="12700" dir="5400000">
              <a:srgbClr val="9AA4BF">
                <a:alpha val="18000"/>
              </a:srgbClr>
            </a:outerShdw>
          </a:effectLst>
        </p:spPr>
      </p:sp>
      <p:sp>
        <p:nvSpPr>
          <p:cNvPr id="46" name="Shape 44"/>
          <p:cNvSpPr/>
          <p:nvPr/>
        </p:nvSpPr>
        <p:spPr>
          <a:xfrm>
            <a:off x="530352" y="4507992"/>
            <a:ext cx="1207008" cy="246888"/>
          </a:xfrm>
          <a:prstGeom prst="roundRect">
            <a:avLst>
              <a:gd name="adj" fmla="val 37037"/>
            </a:avLst>
          </a:prstGeom>
          <a:solidFill>
            <a:srgbClr val="3A4A8F"/>
          </a:solidFill>
          <a:ln w="12700">
            <a:solidFill>
              <a:srgbClr val="3A4A8F"/>
            </a:solidFill>
            <a:prstDash val="solid"/>
          </a:ln>
        </p:spPr>
      </p:sp>
      <p:sp>
        <p:nvSpPr>
          <p:cNvPr id="47" name="Text 45"/>
          <p:cNvSpPr/>
          <p:nvPr/>
        </p:nvSpPr>
        <p:spPr>
          <a:xfrm>
            <a:off x="530352" y="4507992"/>
            <a:ext cx="1207008"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5  설명 계층</a:t>
            </a:r>
            <a:endParaRPr lang="en-US" sz="1000" dirty="0"/>
          </a:p>
        </p:txBody>
      </p:sp>
      <p:sp>
        <p:nvSpPr>
          <p:cNvPr id="48" name="Text 46"/>
          <p:cNvSpPr/>
          <p:nvPr/>
        </p:nvSpPr>
        <p:spPr>
          <a:xfrm>
            <a:off x="530352" y="4901184"/>
            <a:ext cx="2468880" cy="1005840"/>
          </a:xfrm>
          <a:prstGeom prst="rect">
            <a:avLst/>
          </a:prstGeom>
          <a:noFill/>
          <a:ln/>
        </p:spPr>
        <p:txBody>
          <a:bodyPr wrap="square" lIns="0" tIns="0" rIns="0" bIns="0" rtlCol="0" anchor="ctr"/>
          <a:lstStyle/>
          <a:p>
            <a:pPr indent="0" marL="0">
              <a:lnSpc>
                <a:spcPct val="112000"/>
              </a:lnSpc>
              <a:buNone/>
            </a:pPr>
            <a:r>
              <a:rPr lang="en-US" sz="860" i="1" dirty="0">
                <a:solidFill>
                  <a:srgbClr val="6B7280"/>
                </a:solidFill>
                <a:latin typeface="Malgun Gothic" pitchFamily="34" charset="0"/>
                <a:ea typeface="Malgun Gothic" pitchFamily="34" charset="-122"/>
                <a:cs typeface="Malgun Gothic" pitchFamily="34" charset="-120"/>
              </a:rPr>
              <a:t>“왜 이렇게 판정했는가”
</a:t>
            </a:r>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규칙 체크리스트 56지표 (실제 값)</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RAG 근거 문서 122청크</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모델↔규칙 불일치 → 검토 승격</a:t>
            </a:r>
            <a:endParaRPr lang="en-US" sz="950" dirty="0"/>
          </a:p>
        </p:txBody>
      </p:sp>
      <p:sp>
        <p:nvSpPr>
          <p:cNvPr id="49" name="Shape 47"/>
          <p:cNvSpPr/>
          <p:nvPr/>
        </p:nvSpPr>
        <p:spPr>
          <a:xfrm>
            <a:off x="3200400" y="5193792"/>
            <a:ext cx="256032" cy="182880"/>
          </a:xfrm>
          <a:prstGeom prst="rightArrow">
            <a:avLst/>
          </a:prstGeom>
          <a:solidFill>
            <a:srgbClr val="8E9AB8"/>
          </a:solidFill>
          <a:ln w="12700">
            <a:solidFill>
              <a:srgbClr val="8E9AB8"/>
            </a:solidFill>
            <a:prstDash val="solid"/>
          </a:ln>
        </p:spPr>
      </p:sp>
      <p:sp>
        <p:nvSpPr>
          <p:cNvPr id="50" name="Text 48"/>
          <p:cNvSpPr/>
          <p:nvPr/>
        </p:nvSpPr>
        <p:spPr>
          <a:xfrm>
            <a:off x="2980944" y="4956048"/>
            <a:ext cx="694944" cy="201168"/>
          </a:xfrm>
          <a:prstGeom prst="rect">
            <a:avLst/>
          </a:prstGeom>
          <a:noFill/>
          <a:ln/>
        </p:spPr>
        <p:txBody>
          <a:bodyPr wrap="square" lIns="0" tIns="0" rIns="0" bIns="0" rtlCol="0" anchor="ctr"/>
          <a:lstStyle/>
          <a:p>
            <a:pPr algn="ctr" indent="0" marL="0">
              <a:buNone/>
            </a:pPr>
            <a:r>
              <a:rPr lang="en-US" sz="760" dirty="0">
                <a:solidFill>
                  <a:srgbClr val="6B7280"/>
                </a:solidFill>
                <a:latin typeface="Malgun Gothic" pitchFamily="34" charset="0"/>
                <a:ea typeface="Malgun Gothic" pitchFamily="34" charset="-122"/>
                <a:cs typeface="Malgun Gothic" pitchFamily="34" charset="-120"/>
              </a:rPr>
              <a:t>근거 첨부</a:t>
            </a:r>
            <a:endParaRPr lang="en-US" sz="760" dirty="0"/>
          </a:p>
        </p:txBody>
      </p:sp>
      <p:sp>
        <p:nvSpPr>
          <p:cNvPr id="51" name="Shape 49"/>
          <p:cNvSpPr/>
          <p:nvPr/>
        </p:nvSpPr>
        <p:spPr>
          <a:xfrm>
            <a:off x="3529584" y="4626864"/>
            <a:ext cx="2286000" cy="1389888"/>
          </a:xfrm>
          <a:prstGeom prst="roundRect">
            <a:avLst>
              <a:gd name="adj" fmla="val 3289"/>
            </a:avLst>
          </a:prstGeom>
          <a:solidFill>
            <a:srgbClr val="E6F4F7"/>
          </a:solidFill>
          <a:ln w="12700">
            <a:solidFill>
              <a:srgbClr val="A9D3DD"/>
            </a:solidFill>
            <a:prstDash val="solid"/>
          </a:ln>
          <a:effectLst>
            <a:outerShdw sx="100000" sy="100000" kx="0" ky="0" algn="bl" rotWithShape="0" blurRad="76200" dist="12700" dir="5400000">
              <a:srgbClr val="9AA4BF">
                <a:alpha val="18000"/>
              </a:srgbClr>
            </a:outerShdw>
          </a:effectLst>
        </p:spPr>
      </p:sp>
      <p:sp>
        <p:nvSpPr>
          <p:cNvPr id="52" name="Shape 50"/>
          <p:cNvSpPr/>
          <p:nvPr/>
        </p:nvSpPr>
        <p:spPr>
          <a:xfrm>
            <a:off x="3675888" y="4507992"/>
            <a:ext cx="1554480" cy="246888"/>
          </a:xfrm>
          <a:prstGeom prst="roundRect">
            <a:avLst>
              <a:gd name="adj" fmla="val 37037"/>
            </a:avLst>
          </a:prstGeom>
          <a:solidFill>
            <a:srgbClr val="0E7490"/>
          </a:solidFill>
          <a:ln w="12700">
            <a:solidFill>
              <a:srgbClr val="0E7490"/>
            </a:solidFill>
            <a:prstDash val="solid"/>
          </a:ln>
        </p:spPr>
      </p:sp>
      <p:sp>
        <p:nvSpPr>
          <p:cNvPr id="53" name="Text 51"/>
          <p:cNvSpPr/>
          <p:nvPr/>
        </p:nvSpPr>
        <p:spPr>
          <a:xfrm>
            <a:off x="3675888" y="4507992"/>
            <a:ext cx="15544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6  PII 마스킹 게이트</a:t>
            </a:r>
            <a:endParaRPr lang="en-US" sz="1000" dirty="0"/>
          </a:p>
        </p:txBody>
      </p:sp>
      <p:sp>
        <p:nvSpPr>
          <p:cNvPr id="54" name="Text 52"/>
          <p:cNvSpPr/>
          <p:nvPr/>
        </p:nvSpPr>
        <p:spPr>
          <a:xfrm>
            <a:off x="3675888" y="4901184"/>
            <a:ext cx="2011680" cy="1005840"/>
          </a:xfrm>
          <a:prstGeom prst="rect">
            <a:avLst/>
          </a:prstGeom>
          <a:noFill/>
          <a:ln/>
        </p:spPr>
        <p:txBody>
          <a:bodyPr wrap="square" lIns="0" tIns="0" rIns="0" bIns="0" rtlCol="0" anchor="ctr"/>
          <a:lstStyle/>
          <a:p>
            <a:pPr indent="0" marL="0">
              <a:lnSpc>
                <a:spcPct val="112000"/>
              </a:lnSpc>
              <a:buNone/>
            </a:pPr>
            <a:r>
              <a:rPr lang="en-US" sz="880" b="1" dirty="0">
                <a:solidFill>
                  <a:srgbClr val="0E7490"/>
                </a:solidFill>
                <a:latin typeface="Malgun Gothic" pitchFamily="34" charset="0"/>
                <a:ea typeface="Malgun Gothic" pitchFamily="34" charset="-122"/>
                <a:cs typeface="Malgun Gothic" pitchFamily="34" charset="-120"/>
              </a:rPr>
              <a:t>외부 전송 전 단일 통로
</a:t>
            </a:r>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4단계 · 컬럼명 + 정규식 이중</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로컬 LLM 모드면 전송 차단</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DB 적재도 마스킹본만</a:t>
            </a:r>
            <a:endParaRPr lang="en-US" sz="950" dirty="0"/>
          </a:p>
        </p:txBody>
      </p:sp>
      <p:sp>
        <p:nvSpPr>
          <p:cNvPr id="55" name="Shape 53"/>
          <p:cNvSpPr/>
          <p:nvPr/>
        </p:nvSpPr>
        <p:spPr>
          <a:xfrm>
            <a:off x="5888736" y="5193792"/>
            <a:ext cx="256032" cy="182880"/>
          </a:xfrm>
          <a:prstGeom prst="rightArrow">
            <a:avLst/>
          </a:prstGeom>
          <a:solidFill>
            <a:srgbClr val="8E9AB8"/>
          </a:solidFill>
          <a:ln w="12700">
            <a:solidFill>
              <a:srgbClr val="8E9AB8"/>
            </a:solidFill>
            <a:prstDash val="solid"/>
          </a:ln>
        </p:spPr>
      </p:sp>
      <p:sp>
        <p:nvSpPr>
          <p:cNvPr id="56" name="Text 54"/>
          <p:cNvSpPr/>
          <p:nvPr/>
        </p:nvSpPr>
        <p:spPr>
          <a:xfrm>
            <a:off x="5669280" y="4956048"/>
            <a:ext cx="694944" cy="201168"/>
          </a:xfrm>
          <a:prstGeom prst="rect">
            <a:avLst/>
          </a:prstGeom>
          <a:noFill/>
          <a:ln/>
        </p:spPr>
        <p:txBody>
          <a:bodyPr wrap="square" lIns="0" tIns="0" rIns="0" bIns="0" rtlCol="0" anchor="ctr"/>
          <a:lstStyle/>
          <a:p>
            <a:pPr algn="ctr" indent="0" marL="0">
              <a:buNone/>
            </a:pPr>
            <a:r>
              <a:rPr lang="en-US" sz="760" dirty="0">
                <a:solidFill>
                  <a:srgbClr val="6B7280"/>
                </a:solidFill>
                <a:latin typeface="Malgun Gothic" pitchFamily="34" charset="0"/>
                <a:ea typeface="Malgun Gothic" pitchFamily="34" charset="-122"/>
                <a:cs typeface="Malgun Gothic" pitchFamily="34" charset="-120"/>
              </a:rPr>
              <a:t>마스킹본</a:t>
            </a:r>
            <a:endParaRPr lang="en-US" sz="760" dirty="0"/>
          </a:p>
        </p:txBody>
      </p:sp>
      <p:sp>
        <p:nvSpPr>
          <p:cNvPr id="57" name="Shape 55"/>
          <p:cNvSpPr/>
          <p:nvPr/>
        </p:nvSpPr>
        <p:spPr>
          <a:xfrm>
            <a:off x="6217920" y="4626864"/>
            <a:ext cx="2706624" cy="1389888"/>
          </a:xfrm>
          <a:prstGeom prst="roundRect">
            <a:avLst>
              <a:gd name="adj" fmla="val 3289"/>
            </a:avLst>
          </a:prstGeom>
          <a:solidFill>
            <a:srgbClr val="FFFFFF"/>
          </a:solidFill>
          <a:ln w="12700">
            <a:solidFill>
              <a:srgbClr val="D7DDEA"/>
            </a:solidFill>
            <a:prstDash val="solid"/>
          </a:ln>
          <a:effectLst>
            <a:outerShdw sx="100000" sy="100000" kx="0" ky="0" algn="bl" rotWithShape="0" blurRad="76200" dist="12700" dir="5400000">
              <a:srgbClr val="9AA4BF">
                <a:alpha val="18000"/>
              </a:srgbClr>
            </a:outerShdw>
          </a:effectLst>
        </p:spPr>
      </p:sp>
      <p:sp>
        <p:nvSpPr>
          <p:cNvPr id="58" name="Shape 56"/>
          <p:cNvSpPr/>
          <p:nvPr/>
        </p:nvSpPr>
        <p:spPr>
          <a:xfrm>
            <a:off x="6364224" y="4507992"/>
            <a:ext cx="1371600" cy="246888"/>
          </a:xfrm>
          <a:prstGeom prst="roundRect">
            <a:avLst>
              <a:gd name="adj" fmla="val 37037"/>
            </a:avLst>
          </a:prstGeom>
          <a:solidFill>
            <a:srgbClr val="1E2761"/>
          </a:solidFill>
          <a:ln w="12700">
            <a:solidFill>
              <a:srgbClr val="1E2761"/>
            </a:solidFill>
            <a:prstDash val="solid"/>
          </a:ln>
        </p:spPr>
      </p:sp>
      <p:sp>
        <p:nvSpPr>
          <p:cNvPr id="59" name="Text 57"/>
          <p:cNvSpPr/>
          <p:nvPr/>
        </p:nvSpPr>
        <p:spPr>
          <a:xfrm>
            <a:off x="6364224" y="4507992"/>
            <a:ext cx="13716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7  LLM 생성 (3단계)</a:t>
            </a:r>
            <a:endParaRPr lang="en-US" sz="1000" dirty="0"/>
          </a:p>
        </p:txBody>
      </p:sp>
      <p:sp>
        <p:nvSpPr>
          <p:cNvPr id="60" name="Text 58"/>
          <p:cNvSpPr/>
          <p:nvPr/>
        </p:nvSpPr>
        <p:spPr>
          <a:xfrm>
            <a:off x="6364224" y="4901184"/>
            <a:ext cx="2432304" cy="1005840"/>
          </a:xfrm>
          <a:prstGeom prst="rect">
            <a:avLst/>
          </a:prstGeom>
          <a:noFill/>
          <a:ln/>
        </p:spPr>
        <p:txBody>
          <a:bodyPr wrap="square" lIns="0" tIns="0" rIns="0" bIns="0" rtlCol="0" anchor="ctr"/>
          <a:lstStyle/>
          <a:p>
            <a:pPr indent="0" marL="0">
              <a:lnSpc>
                <a:spcPct val="112000"/>
              </a:lnSpc>
              <a:buNone/>
            </a:pPr>
            <a:r>
              <a:rPr lang="en-US" sz="880" b="1" dirty="0">
                <a:solidFill>
                  <a:srgbClr val="1E2761"/>
                </a:solidFill>
                <a:latin typeface="Malgun Gothic" pitchFamily="34" charset="0"/>
                <a:ea typeface="Malgun Gothic" pitchFamily="34" charset="-122"/>
                <a:cs typeface="Malgun Gothic" pitchFamily="34" charset="-120"/>
              </a:rPr>
              <a:t>분석 리포트 · Slack · 이메일
</a:t>
            </a:r>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판정근거 + 규칙 + RAG 기반</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3중 폴백 — LLM이 죽어도 발송</a:t>
            </a:r>
            <a:endParaRPr lang="en-US" sz="950" dirty="0"/>
          </a:p>
          <a:p>
            <a:pPr indent="0" marL="0">
              <a:lnSpc>
                <a:spcPct val="112000"/>
              </a:lnSpc>
              <a:buNone/>
            </a:pPr>
            <a:r>
              <a:rPr lang="en-US" sz="880" dirty="0">
                <a:solidFill>
                  <a:srgbClr val="1A1A2E"/>
                </a:solidFill>
                <a:latin typeface="Malgun Gothic" pitchFamily="34" charset="0"/>
                <a:ea typeface="Malgun Gothic" pitchFamily="34" charset="-122"/>
                <a:cs typeface="Malgun Gothic" pitchFamily="34" charset="-120"/>
              </a:rPr>
              <a:t>연속 3회 실패 → 서킷 5분 우회</a:t>
            </a:r>
            <a:endParaRPr lang="en-US" sz="950" dirty="0"/>
          </a:p>
        </p:txBody>
      </p:sp>
      <p:sp>
        <p:nvSpPr>
          <p:cNvPr id="61" name="Shape 59"/>
          <p:cNvSpPr/>
          <p:nvPr/>
        </p:nvSpPr>
        <p:spPr>
          <a:xfrm>
            <a:off x="8951976" y="5285232"/>
            <a:ext cx="155448" cy="182880"/>
          </a:xfrm>
          <a:prstGeom prst="rightArrow">
            <a:avLst/>
          </a:prstGeom>
          <a:solidFill>
            <a:srgbClr val="8E9AB8"/>
          </a:solidFill>
          <a:ln w="12700">
            <a:solidFill>
              <a:srgbClr val="8E9AB8"/>
            </a:solidFill>
            <a:prstDash val="solid"/>
          </a:ln>
        </p:spPr>
      </p:sp>
      <p:sp>
        <p:nvSpPr>
          <p:cNvPr id="62" name="Shape 60"/>
          <p:cNvSpPr/>
          <p:nvPr/>
        </p:nvSpPr>
        <p:spPr>
          <a:xfrm>
            <a:off x="9125712" y="1060704"/>
            <a:ext cx="2679192" cy="2359152"/>
          </a:xfrm>
          <a:prstGeom prst="roundRect">
            <a:avLst>
              <a:gd name="adj" fmla="val 1938"/>
            </a:avLst>
          </a:prstGeom>
          <a:solidFill>
            <a:srgbClr val="E6F4F7"/>
          </a:solidFill>
          <a:ln w="19050">
            <a:solidFill>
              <a:srgbClr val="8EC6D4"/>
            </a:solidFill>
            <a:prstDash val="solid"/>
          </a:ln>
          <a:effectLst>
            <a:outerShdw sx="100000" sy="100000" kx="0" ky="0" algn="bl" rotWithShape="0" blurRad="76200" dist="12700" dir="5400000">
              <a:srgbClr val="9AA4BF">
                <a:alpha val="18000"/>
              </a:srgbClr>
            </a:outerShdw>
          </a:effectLst>
        </p:spPr>
      </p:sp>
      <p:sp>
        <p:nvSpPr>
          <p:cNvPr id="63" name="Shape 61"/>
          <p:cNvSpPr/>
          <p:nvPr/>
        </p:nvSpPr>
        <p:spPr>
          <a:xfrm>
            <a:off x="9272016" y="941832"/>
            <a:ext cx="1170432" cy="246888"/>
          </a:xfrm>
          <a:prstGeom prst="roundRect">
            <a:avLst>
              <a:gd name="adj" fmla="val 37037"/>
            </a:avLst>
          </a:prstGeom>
          <a:solidFill>
            <a:srgbClr val="0E7490"/>
          </a:solidFill>
          <a:ln w="12700">
            <a:solidFill>
              <a:srgbClr val="0E7490"/>
            </a:solidFill>
            <a:prstDash val="solid"/>
          </a:ln>
        </p:spPr>
      </p:sp>
      <p:sp>
        <p:nvSpPr>
          <p:cNvPr id="64" name="Text 62"/>
          <p:cNvSpPr/>
          <p:nvPr/>
        </p:nvSpPr>
        <p:spPr>
          <a:xfrm>
            <a:off x="9272016" y="941832"/>
            <a:ext cx="117043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9  운영 계층</a:t>
            </a:r>
            <a:endParaRPr lang="en-US" sz="1000" dirty="0"/>
          </a:p>
        </p:txBody>
      </p:sp>
      <p:sp>
        <p:nvSpPr>
          <p:cNvPr id="65" name="Text 63"/>
          <p:cNvSpPr/>
          <p:nvPr/>
        </p:nvSpPr>
        <p:spPr>
          <a:xfrm>
            <a:off x="9272016" y="1335024"/>
            <a:ext cx="2386584" cy="1920240"/>
          </a:xfrm>
          <a:prstGeom prst="rect">
            <a:avLst/>
          </a:prstGeom>
          <a:noFill/>
          <a:ln/>
        </p:spPr>
        <p:txBody>
          <a:bodyPr wrap="square" lIns="0" tIns="0" rIns="0" bIns="0" rtlCol="0" anchor="ctr"/>
          <a:lstStyle/>
          <a:p>
            <a:pPr indent="0" marL="0">
              <a:lnSpc>
                <a:spcPct val="112000"/>
              </a:lnSpc>
              <a:buNone/>
            </a:pPr>
            <a:r>
              <a:rPr lang="en-US" sz="940" b="1" dirty="0">
                <a:solidFill>
                  <a:srgbClr val="0E7490"/>
                </a:solidFill>
                <a:latin typeface="Malgun Gothic" pitchFamily="34" charset="0"/>
                <a:ea typeface="Malgun Gothic" pitchFamily="34" charset="-122"/>
                <a:cs typeface="Malgun Gothic" pitchFamily="34" charset="-120"/>
              </a:rPr>
              <a:t>DetectService — 판정 엔진 1개
</a:t>
            </a:r>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대시보드·워처가 공유 — 판정이 갈라지는 사고를 구조로 차단
</a:t>
            </a:r>
            <a:pPr indent="0" marL="0">
              <a:lnSpc>
                <a:spcPct val="112000"/>
              </a:lnSpc>
              <a:buNone/>
            </a:pPr>
            <a:r>
              <a:rPr lang="en-US" sz="940" b="1" dirty="0">
                <a:solidFill>
                  <a:srgbClr val="0E7490"/>
                </a:solidFill>
                <a:latin typeface="Malgun Gothic" pitchFamily="34" charset="0"/>
                <a:ea typeface="Malgun Gothic" pitchFamily="34" charset="-122"/>
                <a:cs typeface="Malgun Gothic" pitchFamily="34" charset="-120"/>
              </a:rPr>
              <a:t>워처 상태 패널
</a:t>
            </a:r>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정상 / 응답없음 / 미실행 · 처리량 · 진행도
</a:t>
            </a:r>
            <a:pPr indent="0" marL="0">
              <a:lnSpc>
                <a:spcPct val="112000"/>
              </a:lnSpc>
              <a:buNone/>
            </a:pPr>
            <a:r>
              <a:rPr lang="en-US" sz="940" b="1" dirty="0">
                <a:solidFill>
                  <a:srgbClr val="0E7490"/>
                </a:solidFill>
                <a:latin typeface="Malgun Gothic" pitchFamily="34" charset="0"/>
                <a:ea typeface="Malgun Gothic" pitchFamily="34" charset="-122"/>
                <a:cs typeface="Malgun Gothic" pitchFamily="34" charset="-120"/>
              </a:rPr>
              <a:t>설정 핫 리로드
</a:t>
            </a:r>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임계값 변경이 재시작 없이 5초 내 반영
</a:t>
            </a:r>
            <a:pPr indent="0" marL="0">
              <a:lnSpc>
                <a:spcPct val="112000"/>
              </a:lnSpc>
              <a:buNone/>
            </a:pPr>
            <a:r>
              <a:rPr lang="en-US" sz="940" b="1" dirty="0">
                <a:solidFill>
                  <a:srgbClr val="0E7490"/>
                </a:solidFill>
                <a:latin typeface="Malgun Gothic" pitchFamily="34" charset="0"/>
                <a:ea typeface="Malgun Gothic" pitchFamily="34" charset="-122"/>
                <a:cs typeface="Malgun Gothic" pitchFamily="34" charset="-120"/>
              </a:rPr>
              <a:t>데드맨 스위치
</a:t>
            </a:r>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스케줄러 10분 점검 → 끊기면 Slack 경보</a:t>
            </a:r>
            <a:endParaRPr lang="en-US" sz="950" dirty="0"/>
          </a:p>
          <a:p>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감시자도 죽으므로 OS에 맡김</a:t>
            </a:r>
            <a:endParaRPr lang="en-US" sz="950" dirty="0"/>
          </a:p>
        </p:txBody>
      </p:sp>
      <p:sp>
        <p:nvSpPr>
          <p:cNvPr id="66" name="Text 64"/>
          <p:cNvSpPr/>
          <p:nvPr/>
        </p:nvSpPr>
        <p:spPr>
          <a:xfrm>
            <a:off x="9272016" y="3090672"/>
            <a:ext cx="2386584" cy="182880"/>
          </a:xfrm>
          <a:prstGeom prst="rect">
            <a:avLst/>
          </a:prstGeom>
          <a:noFill/>
          <a:ln/>
        </p:spPr>
        <p:txBody>
          <a:bodyPr wrap="square" lIns="0" tIns="0" rIns="0" bIns="0" rtlCol="0" anchor="ctr"/>
          <a:lstStyle/>
          <a:p>
            <a:pPr algn="r" indent="0" marL="0">
              <a:buNone/>
            </a:pPr>
            <a:r>
              <a:rPr lang="en-US" sz="760" dirty="0">
                <a:solidFill>
                  <a:srgbClr val="0E7490"/>
                </a:solidFill>
                <a:latin typeface="Malgun Gothic" pitchFamily="34" charset="0"/>
                <a:ea typeface="Malgun Gothic" pitchFamily="34" charset="-122"/>
                <a:cs typeface="Malgun Gothic" pitchFamily="34" charset="-120"/>
              </a:rPr>
              <a:t>설정 반영</a:t>
            </a:r>
            <a:endParaRPr lang="en-US" sz="760" dirty="0"/>
          </a:p>
        </p:txBody>
      </p:sp>
      <p:sp>
        <p:nvSpPr>
          <p:cNvPr id="67" name="Shape 65"/>
          <p:cNvSpPr/>
          <p:nvPr/>
        </p:nvSpPr>
        <p:spPr>
          <a:xfrm>
            <a:off x="9125712" y="3675888"/>
            <a:ext cx="2679192" cy="877824"/>
          </a:xfrm>
          <a:prstGeom prst="roundRect">
            <a:avLst>
              <a:gd name="adj" fmla="val 5208"/>
            </a:avLst>
          </a:prstGeom>
          <a:solidFill>
            <a:srgbClr val="F5F3FA"/>
          </a:solidFill>
          <a:ln w="12700">
            <a:solidFill>
              <a:srgbClr val="C9BEE4"/>
            </a:solidFill>
            <a:prstDash val="solid"/>
          </a:ln>
          <a:effectLst>
            <a:outerShdw sx="100000" sy="100000" kx="0" ky="0" algn="bl" rotWithShape="0" blurRad="76200" dist="12700" dir="5400000">
              <a:srgbClr val="9AA4BF">
                <a:alpha val="18000"/>
              </a:srgbClr>
            </a:outerShdw>
          </a:effectLst>
        </p:spPr>
      </p:sp>
      <p:sp>
        <p:nvSpPr>
          <p:cNvPr id="68" name="Text 66"/>
          <p:cNvSpPr/>
          <p:nvPr/>
        </p:nvSpPr>
        <p:spPr>
          <a:xfrm>
            <a:off x="9272016" y="3803904"/>
            <a:ext cx="2386584" cy="658368"/>
          </a:xfrm>
          <a:prstGeom prst="rect">
            <a:avLst/>
          </a:prstGeom>
          <a:noFill/>
          <a:ln/>
        </p:spPr>
        <p:txBody>
          <a:bodyPr wrap="square" lIns="0" tIns="0" rIns="0" bIns="0" rtlCol="0" anchor="ctr"/>
          <a:lstStyle/>
          <a:p>
            <a:pPr indent="0" marL="0">
              <a:lnSpc>
                <a:spcPct val="112000"/>
              </a:lnSpc>
              <a:buNone/>
            </a:pPr>
            <a:r>
              <a:rPr lang="en-US" sz="960" b="1" dirty="0">
                <a:solidFill>
                  <a:srgbClr val="6D4AA6"/>
                </a:solidFill>
                <a:latin typeface="Malgun Gothic" pitchFamily="34" charset="0"/>
                <a:ea typeface="Malgun Gothic" pitchFamily="34" charset="-122"/>
                <a:cs typeface="Malgun Gothic" pitchFamily="34" charset="-120"/>
              </a:rPr>
              <a:t>SQLite 이력 DB
</a:t>
            </a:r>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탐지 전 건 저장 (정상 포함) · 발송 이력</a:t>
            </a:r>
            <a:endParaRPr lang="en-US" sz="960" dirty="0"/>
          </a:p>
          <a:p>
            <a:pPr indent="0" marL="0">
              <a:lnSpc>
                <a:spcPct val="112000"/>
              </a:lnSpc>
              <a:buNone/>
            </a:pPr>
            <a:r>
              <a:rPr lang="en-US" sz="820" dirty="0">
                <a:solidFill>
                  <a:srgbClr val="1A1A2E"/>
                </a:solidFill>
                <a:latin typeface="Malgun Gothic" pitchFamily="34" charset="0"/>
                <a:ea typeface="Malgun Gothic" pitchFamily="34" charset="-122"/>
                <a:cs typeface="Malgun Gothic" pitchFamily="34" charset="-120"/>
              </a:rPr>
              <a:t>워처 커서 · 하트비트 · 5개 테이블</a:t>
            </a:r>
            <a:endParaRPr lang="en-US" sz="960" dirty="0"/>
          </a:p>
        </p:txBody>
      </p:sp>
      <p:sp>
        <p:nvSpPr>
          <p:cNvPr id="69" name="Shape 67"/>
          <p:cNvSpPr/>
          <p:nvPr/>
        </p:nvSpPr>
        <p:spPr>
          <a:xfrm>
            <a:off x="8778240" y="3291840"/>
            <a:ext cx="347472" cy="0"/>
          </a:xfrm>
          <a:prstGeom prst="line">
            <a:avLst/>
          </a:prstGeom>
          <a:noFill/>
          <a:ln w="19050">
            <a:solidFill>
              <a:srgbClr val="0E7490"/>
            </a:solidFill>
            <a:prstDash val="dash"/>
            <a:headEnd type="triangle"/>
          </a:ln>
        </p:spPr>
      </p:sp>
      <p:sp>
        <p:nvSpPr>
          <p:cNvPr id="70" name="Shape 68"/>
          <p:cNvSpPr/>
          <p:nvPr/>
        </p:nvSpPr>
        <p:spPr>
          <a:xfrm>
            <a:off x="8951976" y="3986784"/>
            <a:ext cx="155448" cy="182880"/>
          </a:xfrm>
          <a:prstGeom prst="rightArrow">
            <a:avLst/>
          </a:prstGeom>
          <a:solidFill>
            <a:srgbClr val="8E9AB8"/>
          </a:solidFill>
          <a:ln w="12700">
            <a:solidFill>
              <a:srgbClr val="8E9AB8"/>
            </a:solidFill>
            <a:prstDash val="solid"/>
          </a:ln>
        </p:spPr>
      </p:sp>
      <p:sp>
        <p:nvSpPr>
          <p:cNvPr id="71" name="Shape 69"/>
          <p:cNvSpPr/>
          <p:nvPr/>
        </p:nvSpPr>
        <p:spPr>
          <a:xfrm>
            <a:off x="11430000" y="3456432"/>
            <a:ext cx="0" cy="182880"/>
          </a:xfrm>
          <a:prstGeom prst="line">
            <a:avLst/>
          </a:prstGeom>
          <a:noFill/>
          <a:ln w="19050">
            <a:solidFill>
              <a:srgbClr val="0E7490"/>
            </a:solidFill>
            <a:prstDash val="dash"/>
            <a:headEnd type="triangle"/>
          </a:ln>
        </p:spPr>
      </p:sp>
      <p:sp>
        <p:nvSpPr>
          <p:cNvPr id="72" name="Text 70"/>
          <p:cNvSpPr/>
          <p:nvPr/>
        </p:nvSpPr>
        <p:spPr>
          <a:xfrm>
            <a:off x="10570464" y="3456432"/>
            <a:ext cx="786384" cy="182880"/>
          </a:xfrm>
          <a:prstGeom prst="rect">
            <a:avLst/>
          </a:prstGeom>
          <a:noFill/>
          <a:ln/>
        </p:spPr>
        <p:txBody>
          <a:bodyPr wrap="square" lIns="0" tIns="0" rIns="0" bIns="0" rtlCol="0" anchor="ctr"/>
          <a:lstStyle/>
          <a:p>
            <a:pPr algn="r" indent="0" marL="0">
              <a:buNone/>
            </a:pPr>
            <a:r>
              <a:rPr lang="en-US" sz="740" dirty="0">
                <a:solidFill>
                  <a:srgbClr val="0E7490"/>
                </a:solidFill>
                <a:latin typeface="Malgun Gothic" pitchFamily="34" charset="0"/>
                <a:ea typeface="Malgun Gothic" pitchFamily="34" charset="-122"/>
                <a:cs typeface="Malgun Gothic" pitchFamily="34" charset="-120"/>
              </a:rPr>
              <a:t>상태 조회</a:t>
            </a:r>
            <a:endParaRPr lang="en-US" sz="740" dirty="0"/>
          </a:p>
        </p:txBody>
      </p:sp>
      <p:sp>
        <p:nvSpPr>
          <p:cNvPr id="73" name="Shape 71"/>
          <p:cNvSpPr/>
          <p:nvPr/>
        </p:nvSpPr>
        <p:spPr>
          <a:xfrm>
            <a:off x="9125712" y="4773168"/>
            <a:ext cx="2679192" cy="1243584"/>
          </a:xfrm>
          <a:prstGeom prst="roundRect">
            <a:avLst>
              <a:gd name="adj" fmla="val 3676"/>
            </a:avLst>
          </a:prstGeom>
          <a:solidFill>
            <a:srgbClr val="FFFFFF"/>
          </a:solidFill>
          <a:ln w="12700">
            <a:solidFill>
              <a:srgbClr val="E0C9A0"/>
            </a:solidFill>
            <a:prstDash val="solid"/>
          </a:ln>
          <a:effectLst>
            <a:outerShdw sx="100000" sy="100000" kx="0" ky="0" algn="bl" rotWithShape="0" blurRad="76200" dist="12700" dir="5400000">
              <a:srgbClr val="9AA4BF">
                <a:alpha val="18000"/>
              </a:srgbClr>
            </a:outerShdw>
          </a:effectLst>
        </p:spPr>
      </p:sp>
      <p:sp>
        <p:nvSpPr>
          <p:cNvPr id="74" name="Shape 72"/>
          <p:cNvSpPr/>
          <p:nvPr/>
        </p:nvSpPr>
        <p:spPr>
          <a:xfrm>
            <a:off x="11430000" y="4608576"/>
            <a:ext cx="164592" cy="182880"/>
          </a:xfrm>
          <a:prstGeom prst="upArrow">
            <a:avLst/>
          </a:prstGeom>
          <a:solidFill>
            <a:srgbClr val="8E9AB8"/>
          </a:solidFill>
          <a:ln w="12700">
            <a:solidFill>
              <a:srgbClr val="8E9AB8"/>
            </a:solidFill>
            <a:prstDash val="solid"/>
          </a:ln>
        </p:spPr>
      </p:sp>
      <p:sp>
        <p:nvSpPr>
          <p:cNvPr id="75" name="Text 73"/>
          <p:cNvSpPr/>
          <p:nvPr/>
        </p:nvSpPr>
        <p:spPr>
          <a:xfrm>
            <a:off x="10570464" y="4608576"/>
            <a:ext cx="786384" cy="182880"/>
          </a:xfrm>
          <a:prstGeom prst="rect">
            <a:avLst/>
          </a:prstGeom>
          <a:noFill/>
          <a:ln/>
        </p:spPr>
        <p:txBody>
          <a:bodyPr wrap="square" lIns="0" tIns="0" rIns="0" bIns="0" rtlCol="0" anchor="ctr"/>
          <a:lstStyle/>
          <a:p>
            <a:pPr algn="r" indent="0" marL="0">
              <a:buNone/>
            </a:pPr>
            <a:r>
              <a:rPr lang="en-US" sz="740" dirty="0">
                <a:solidFill>
                  <a:srgbClr val="6B7280"/>
                </a:solidFill>
                <a:latin typeface="Malgun Gothic" pitchFamily="34" charset="0"/>
                <a:ea typeface="Malgun Gothic" pitchFamily="34" charset="-122"/>
                <a:cs typeface="Malgun Gothic" pitchFamily="34" charset="-120"/>
              </a:rPr>
              <a:t>발송 이력</a:t>
            </a:r>
            <a:endParaRPr lang="en-US" sz="740" dirty="0"/>
          </a:p>
        </p:txBody>
      </p:sp>
      <p:sp>
        <p:nvSpPr>
          <p:cNvPr id="76" name="Shape 74"/>
          <p:cNvSpPr/>
          <p:nvPr/>
        </p:nvSpPr>
        <p:spPr>
          <a:xfrm>
            <a:off x="9272016" y="4654296"/>
            <a:ext cx="1060704" cy="246888"/>
          </a:xfrm>
          <a:prstGeom prst="roundRect">
            <a:avLst>
              <a:gd name="adj" fmla="val 37037"/>
            </a:avLst>
          </a:prstGeom>
          <a:solidFill>
            <a:srgbClr val="B45309"/>
          </a:solidFill>
          <a:ln w="12700">
            <a:solidFill>
              <a:srgbClr val="B45309"/>
            </a:solidFill>
            <a:prstDash val="solid"/>
          </a:ln>
        </p:spPr>
      </p:sp>
      <p:sp>
        <p:nvSpPr>
          <p:cNvPr id="77" name="Text 75"/>
          <p:cNvSpPr/>
          <p:nvPr/>
        </p:nvSpPr>
        <p:spPr>
          <a:xfrm>
            <a:off x="9272016" y="4654296"/>
            <a:ext cx="1060704"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8  알림 발송</a:t>
            </a:r>
            <a:endParaRPr lang="en-US" sz="1000" dirty="0"/>
          </a:p>
        </p:txBody>
      </p:sp>
      <p:sp>
        <p:nvSpPr>
          <p:cNvPr id="78" name="Text 76"/>
          <p:cNvSpPr/>
          <p:nvPr/>
        </p:nvSpPr>
        <p:spPr>
          <a:xfrm>
            <a:off x="9272016" y="5010912"/>
            <a:ext cx="2386584" cy="457200"/>
          </a:xfrm>
          <a:prstGeom prst="rect">
            <a:avLst/>
          </a:prstGeom>
          <a:noFill/>
          <a:ln/>
        </p:spPr>
        <p:txBody>
          <a:bodyPr wrap="square" lIns="0" tIns="0" rIns="0" bIns="0" rtlCol="0" anchor="ctr"/>
          <a:lstStyle/>
          <a:p>
            <a:pPr indent="0" marL="0">
              <a:lnSpc>
                <a:spcPct val="112000"/>
              </a:lnSpc>
              <a:buNone/>
            </a:pPr>
            <a:r>
              <a:rPr lang="en-US" sz="920" b="1" dirty="0">
                <a:solidFill>
                  <a:srgbClr val="B45309"/>
                </a:solidFill>
                <a:latin typeface="Malgun Gothic" pitchFamily="34" charset="0"/>
                <a:ea typeface="Malgun Gothic" pitchFamily="34" charset="-122"/>
                <a:cs typeface="Malgun Gothic" pitchFamily="34" charset="-120"/>
              </a:rPr>
              <a:t>Slack Webhook  </a:t>
            </a:r>
            <a:pPr indent="0" marL="0">
              <a:lnSpc>
                <a:spcPct val="112000"/>
              </a:lnSpc>
              <a:buNone/>
            </a:pPr>
            <a:r>
              <a:rPr lang="en-US" sz="800" dirty="0">
                <a:solidFill>
                  <a:srgbClr val="1A1A2E"/>
                </a:solidFill>
                <a:latin typeface="Malgun Gothic" pitchFamily="34" charset="0"/>
                <a:ea typeface="Malgun Gothic" pitchFamily="34" charset="-122"/>
                <a:cs typeface="Malgun Gothic" pitchFamily="34" charset="-120"/>
              </a:rPr>
              <a:t>requests.post HTTPS
</a:t>
            </a:r>
            <a:pPr indent="0" marL="0">
              <a:lnSpc>
                <a:spcPct val="112000"/>
              </a:lnSpc>
              <a:buNone/>
            </a:pPr>
            <a:r>
              <a:rPr lang="en-US" sz="800" dirty="0">
                <a:solidFill>
                  <a:srgbClr val="1A1A2E"/>
                </a:solidFill>
                <a:latin typeface="Malgun Gothic" pitchFamily="34" charset="0"/>
                <a:ea typeface="Malgun Gothic" pitchFamily="34" charset="-122"/>
                <a:cs typeface="Malgun Gothic" pitchFamily="34" charset="-120"/>
              </a:rPr>
              <a:t>mrkdwn + 유니코드 차트 · Block Kit 미사용</a:t>
            </a:r>
            <a:endParaRPr lang="en-US" sz="950" dirty="0"/>
          </a:p>
        </p:txBody>
      </p:sp>
      <p:sp>
        <p:nvSpPr>
          <p:cNvPr id="79" name="Shape 77"/>
          <p:cNvSpPr/>
          <p:nvPr/>
        </p:nvSpPr>
        <p:spPr>
          <a:xfrm>
            <a:off x="9272016" y="5468112"/>
            <a:ext cx="2386584" cy="0"/>
          </a:xfrm>
          <a:prstGeom prst="line">
            <a:avLst/>
          </a:prstGeom>
          <a:noFill/>
          <a:ln w="12700">
            <a:solidFill>
              <a:srgbClr val="D7DDEA"/>
            </a:solidFill>
            <a:prstDash val="solid"/>
          </a:ln>
        </p:spPr>
      </p:sp>
      <p:sp>
        <p:nvSpPr>
          <p:cNvPr id="80" name="Text 78"/>
          <p:cNvSpPr/>
          <p:nvPr/>
        </p:nvSpPr>
        <p:spPr>
          <a:xfrm>
            <a:off x="9272016" y="5522976"/>
            <a:ext cx="2386584" cy="457200"/>
          </a:xfrm>
          <a:prstGeom prst="rect">
            <a:avLst/>
          </a:prstGeom>
          <a:noFill/>
          <a:ln/>
        </p:spPr>
        <p:txBody>
          <a:bodyPr wrap="square" lIns="0" tIns="0" rIns="0" bIns="0" rtlCol="0" anchor="ctr"/>
          <a:lstStyle/>
          <a:p>
            <a:pPr indent="0" marL="0">
              <a:lnSpc>
                <a:spcPct val="112000"/>
              </a:lnSpc>
              <a:buNone/>
            </a:pPr>
            <a:r>
              <a:rPr lang="en-US" sz="920" b="1" dirty="0">
                <a:solidFill>
                  <a:srgbClr val="B45309"/>
                </a:solidFill>
                <a:latin typeface="Malgun Gothic" pitchFamily="34" charset="0"/>
                <a:ea typeface="Malgun Gothic" pitchFamily="34" charset="-122"/>
                <a:cs typeface="Malgun Gothic" pitchFamily="34" charset="-120"/>
              </a:rPr>
              <a:t>SMTP (smtplib)  </a:t>
            </a:r>
            <a:pPr indent="0" marL="0">
              <a:lnSpc>
                <a:spcPct val="112000"/>
              </a:lnSpc>
              <a:buNone/>
            </a:pPr>
            <a:r>
              <a:rPr lang="en-US" sz="800" dirty="0">
                <a:solidFill>
                  <a:srgbClr val="1A1A2E"/>
                </a:solidFill>
                <a:latin typeface="Malgun Gothic" pitchFamily="34" charset="0"/>
                <a:ea typeface="Malgun Gothic" pitchFamily="34" charset="-122"/>
                <a:cs typeface="Malgun Gothic" pitchFamily="34" charset="-120"/>
              </a:rPr>
              <a:t>465 → 587 폴백
</a:t>
            </a:r>
            <a:pPr indent="0" marL="0">
              <a:lnSpc>
                <a:spcPct val="112000"/>
              </a:lnSpc>
              <a:buNone/>
            </a:pPr>
            <a:r>
              <a:rPr lang="en-US" sz="800" dirty="0">
                <a:solidFill>
                  <a:srgbClr val="1A1A2E"/>
                </a:solidFill>
                <a:latin typeface="Malgun Gothic" pitchFamily="34" charset="0"/>
                <a:ea typeface="Malgun Gothic" pitchFamily="34" charset="-122"/>
                <a:cs typeface="Malgun Gothic" pitchFamily="34" charset="-120"/>
              </a:rPr>
              <a:t>multipart · plain + HTML + 첨부</a:t>
            </a:r>
            <a:endParaRPr lang="en-US" sz="950" dirty="0"/>
          </a:p>
        </p:txBody>
      </p:sp>
      <p:sp>
        <p:nvSpPr>
          <p:cNvPr id="81" name="Shape 79"/>
          <p:cNvSpPr/>
          <p:nvPr/>
        </p:nvSpPr>
        <p:spPr>
          <a:xfrm>
            <a:off x="384048" y="6181344"/>
            <a:ext cx="8540496" cy="475488"/>
          </a:xfrm>
          <a:prstGeom prst="roundRect">
            <a:avLst>
              <a:gd name="adj" fmla="val 9615"/>
            </a:avLst>
          </a:prstGeom>
          <a:solidFill>
            <a:srgbClr val="F4F6FB"/>
          </a:solidFill>
          <a:ln w="12700">
            <a:solidFill>
              <a:srgbClr val="D7DDEA"/>
            </a:solidFill>
            <a:prstDash val="solid"/>
          </a:ln>
        </p:spPr>
      </p:sp>
      <p:sp>
        <p:nvSpPr>
          <p:cNvPr id="82" name="Text 80"/>
          <p:cNvSpPr/>
          <p:nvPr/>
        </p:nvSpPr>
        <p:spPr>
          <a:xfrm>
            <a:off x="530352" y="6208776"/>
            <a:ext cx="8229600" cy="201168"/>
          </a:xfrm>
          <a:prstGeom prst="rect">
            <a:avLst/>
          </a:prstGeom>
          <a:noFill/>
          <a:ln/>
        </p:spPr>
        <p:txBody>
          <a:bodyPr wrap="square" lIns="0" tIns="0" rIns="0" bIns="0" rtlCol="0" anchor="ctr"/>
          <a:lstStyle/>
          <a:p>
            <a:pPr indent="0" marL="0">
              <a:buNone/>
            </a:pPr>
            <a:r>
              <a:rPr lang="en-US" sz="900" b="1" dirty="0">
                <a:solidFill>
                  <a:srgbClr val="C6353A"/>
                </a:solidFill>
                <a:latin typeface="Malgun Gothic" pitchFamily="34" charset="0"/>
                <a:ea typeface="Malgun Gothic" pitchFamily="34" charset="-122"/>
                <a:cs typeface="Malgun Gothic" pitchFamily="34" charset="-120"/>
              </a:rPr>
              <a:t>안전 가드   </a:t>
            </a:r>
            <a:pPr indent="0" marL="0">
              <a:buNone/>
            </a:pPr>
            <a:r>
              <a:rPr lang="en-US" sz="860" dirty="0">
                <a:solidFill>
                  <a:srgbClr val="1A1A2E"/>
                </a:solidFill>
                <a:latin typeface="Malgun Gothic" pitchFamily="34" charset="0"/>
                <a:ea typeface="Malgun Gothic" pitchFamily="34" charset="-122"/>
                <a:cs typeface="Malgun Gothic" pitchFamily="34" charset="-120"/>
              </a:rPr>
              <a:t>모델 로드 실패 시 기동 거부(더미 랜덤 판정 차단) · 중복 실행 락 · 같은 거래 24h 재알림 억제 · 중지는 kill 아닌 신호(커서 보존)</a:t>
            </a:r>
            <a:endParaRPr lang="en-US" sz="900" dirty="0"/>
          </a:p>
        </p:txBody>
      </p:sp>
      <p:sp>
        <p:nvSpPr>
          <p:cNvPr id="83" name="Text 81"/>
          <p:cNvSpPr/>
          <p:nvPr/>
        </p:nvSpPr>
        <p:spPr>
          <a:xfrm>
            <a:off x="530352" y="6419088"/>
            <a:ext cx="8229600" cy="201168"/>
          </a:xfrm>
          <a:prstGeom prst="rect">
            <a:avLst/>
          </a:prstGeom>
          <a:noFill/>
          <a:ln/>
        </p:spPr>
        <p:txBody>
          <a:bodyPr wrap="square" lIns="0" tIns="0" rIns="0" bIns="0" rtlCol="0" anchor="ctr"/>
          <a:lstStyle/>
          <a:p>
            <a:pPr indent="0" marL="0">
              <a:buNone/>
            </a:pPr>
            <a:r>
              <a:rPr lang="en-US" sz="900" b="1" dirty="0">
                <a:solidFill>
                  <a:srgbClr val="1E2761"/>
                </a:solidFill>
                <a:latin typeface="Malgun Gothic" pitchFamily="34" charset="0"/>
                <a:ea typeface="Malgun Gothic" pitchFamily="34" charset="-122"/>
                <a:cs typeface="Malgun Gothic" pitchFamily="34" charset="-120"/>
              </a:rPr>
              <a:t>전 구간 공통   </a:t>
            </a:r>
            <a:pPr indent="0" marL="0">
              <a:buNone/>
            </a:pPr>
            <a:r>
              <a:rPr lang="en-US" sz="860" dirty="0">
                <a:solidFill>
                  <a:srgbClr val="1A1A2E"/>
                </a:solidFill>
                <a:latin typeface="Malgun Gothic" pitchFamily="34" charset="0"/>
                <a:ea typeface="Malgun Gothic" pitchFamily="34" charset="-122"/>
                <a:cs typeface="Malgun Gothic" pitchFamily="34" charset="-120"/>
              </a:rPr>
              <a:t>AI 에이전트 21액션·음성 · 승인 게이트(비가역 액션만 사람 확인) · 4개국어 · 온보딩 · SQLite 전체 이력</a:t>
            </a:r>
            <a:endParaRPr lang="en-US" sz="900" dirty="0"/>
          </a:p>
        </p:txBody>
      </p:sp>
      <p:sp>
        <p:nvSpPr>
          <p:cNvPr id="84" name="Shape 82"/>
          <p:cNvSpPr/>
          <p:nvPr/>
        </p:nvSpPr>
        <p:spPr>
          <a:xfrm>
            <a:off x="9144000" y="6263640"/>
            <a:ext cx="201168" cy="100584"/>
          </a:xfrm>
          <a:prstGeom prst="rightArrow">
            <a:avLst/>
          </a:prstGeom>
          <a:solidFill>
            <a:srgbClr val="8E9AB8"/>
          </a:solidFill>
          <a:ln w="12700">
            <a:solidFill>
              <a:srgbClr val="8E9AB8"/>
            </a:solidFill>
            <a:prstDash val="solid"/>
          </a:ln>
        </p:spPr>
      </p:sp>
      <p:sp>
        <p:nvSpPr>
          <p:cNvPr id="85" name="Text 83"/>
          <p:cNvSpPr/>
          <p:nvPr/>
        </p:nvSpPr>
        <p:spPr>
          <a:xfrm>
            <a:off x="9400032" y="6199632"/>
            <a:ext cx="841248" cy="201168"/>
          </a:xfrm>
          <a:prstGeom prst="rect">
            <a:avLst/>
          </a:prstGeom>
          <a:noFill/>
          <a:ln/>
        </p:spPr>
        <p:txBody>
          <a:bodyPr wrap="square" lIns="0" tIns="0" rIns="0" bIns="0" rtlCol="0" anchor="ctr"/>
          <a:lstStyle/>
          <a:p>
            <a:pPr indent="0" marL="0">
              <a:buNone/>
            </a:pPr>
            <a:r>
              <a:rPr lang="en-US" sz="780" dirty="0">
                <a:solidFill>
                  <a:srgbClr val="6B7280"/>
                </a:solidFill>
                <a:latin typeface="Malgun Gothic" pitchFamily="34" charset="0"/>
                <a:ea typeface="Malgun Gothic" pitchFamily="34" charset="-122"/>
                <a:cs typeface="Malgun Gothic" pitchFamily="34" charset="-120"/>
              </a:rPr>
              <a:t>데이터 흐름</a:t>
            </a:r>
            <a:endParaRPr lang="en-US" sz="780" dirty="0"/>
          </a:p>
        </p:txBody>
      </p:sp>
      <p:sp>
        <p:nvSpPr>
          <p:cNvPr id="86" name="Shape 84"/>
          <p:cNvSpPr/>
          <p:nvPr/>
        </p:nvSpPr>
        <p:spPr>
          <a:xfrm>
            <a:off x="9144000" y="6510528"/>
            <a:ext cx="219456" cy="0"/>
          </a:xfrm>
          <a:prstGeom prst="line">
            <a:avLst/>
          </a:prstGeom>
          <a:noFill/>
          <a:ln w="19050">
            <a:solidFill>
              <a:srgbClr val="0E7490"/>
            </a:solidFill>
            <a:prstDash val="dash"/>
            <a:tailEnd type="triangle"/>
          </a:ln>
        </p:spPr>
      </p:sp>
      <p:sp>
        <p:nvSpPr>
          <p:cNvPr id="87" name="Text 85"/>
          <p:cNvSpPr/>
          <p:nvPr/>
        </p:nvSpPr>
        <p:spPr>
          <a:xfrm>
            <a:off x="9400032" y="6419088"/>
            <a:ext cx="1005840" cy="201168"/>
          </a:xfrm>
          <a:prstGeom prst="rect">
            <a:avLst/>
          </a:prstGeom>
          <a:noFill/>
          <a:ln/>
        </p:spPr>
        <p:txBody>
          <a:bodyPr wrap="square" lIns="0" tIns="0" rIns="0" bIns="0" rtlCol="0" anchor="ctr"/>
          <a:lstStyle/>
          <a:p>
            <a:pPr indent="0" marL="0">
              <a:buNone/>
            </a:pPr>
            <a:r>
              <a:rPr lang="en-US" sz="780" dirty="0">
                <a:solidFill>
                  <a:srgbClr val="6B7280"/>
                </a:solidFill>
                <a:latin typeface="Malgun Gothic" pitchFamily="34" charset="0"/>
                <a:ea typeface="Malgun Gothic" pitchFamily="34" charset="-122"/>
                <a:cs typeface="Malgun Gothic" pitchFamily="34" charset="-120"/>
              </a:rPr>
              <a:t>설정·제어 흐름</a:t>
            </a:r>
            <a:endParaRPr lang="en-US" sz="780" dirty="0"/>
          </a:p>
        </p:txBody>
      </p:sp>
      <p:sp>
        <p:nvSpPr>
          <p:cNvPr id="88" name="Text 86"/>
          <p:cNvSpPr/>
          <p:nvPr/>
        </p:nvSpPr>
        <p:spPr>
          <a:xfrm>
            <a:off x="10497312" y="6318504"/>
            <a:ext cx="1280160" cy="201168"/>
          </a:xfrm>
          <a:prstGeom prst="rect">
            <a:avLst/>
          </a:prstGeom>
          <a:noFill/>
          <a:ln/>
        </p:spPr>
        <p:txBody>
          <a:bodyPr wrap="square" lIns="0" tIns="0" rIns="0" bIns="0" rtlCol="0" anchor="ctr"/>
          <a:lstStyle/>
          <a:p>
            <a:pPr algn="r" indent="0" marL="0">
              <a:buNone/>
            </a:pPr>
            <a:r>
              <a:rPr lang="en-US" sz="850" dirty="0">
                <a:solidFill>
                  <a:srgbClr val="6B7280"/>
                </a:solidFill>
                <a:latin typeface="Malgun Gothic" pitchFamily="34" charset="0"/>
                <a:ea typeface="Malgun Gothic" pitchFamily="34" charset="-122"/>
                <a:cs typeface="Malgun Gothic" pitchFamily="34" charset="-120"/>
              </a:rPr>
              <a:t>v19 · 2026-08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 실시간 이상탐지 파이프라인</dc:title>
  <dc:subject>PptxGenJS Presentation</dc:subject>
  <dc:creator>PptxGenJS</dc:creator>
  <cp:lastModifiedBy>PptxGenJS</cp:lastModifiedBy>
  <cp:revision>1</cp:revision>
  <dcterms:created xsi:type="dcterms:W3CDTF">2026-08-05T06:58:24Z</dcterms:created>
  <dcterms:modified xsi:type="dcterms:W3CDTF">2026-08-05T06:58:24Z</dcterms:modified>
</cp:coreProperties>
</file>